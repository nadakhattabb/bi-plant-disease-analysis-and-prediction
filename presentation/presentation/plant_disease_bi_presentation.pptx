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72" r:id="rId12"/>
    <p:sldId id="264" r:id="rId13"/>
    <p:sldId id="270" r:id="rId14"/>
    <p:sldId id="265" r:id="rId15"/>
    <p:sldId id="273" r:id="rId16"/>
    <p:sldId id="274" r:id="rId17"/>
    <p:sldId id="276" r:id="rId18"/>
    <p:sldId id="279" r:id="rId19"/>
    <p:sldId id="280" r:id="rId20"/>
    <p:sldId id="278" r:id="rId21"/>
    <p:sldId id="266" r:id="rId22"/>
    <p:sldId id="277" r:id="rId23"/>
    <p:sldId id="269" r:id="rId2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5FD6"/>
    <a:srgbClr val="6F4827"/>
    <a:srgbClr val="996633"/>
    <a:srgbClr val="663300"/>
    <a:srgbClr val="485A4E"/>
    <a:srgbClr val="5C9700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56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E5C28-B191-4258-9BE8-07FC0727E60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E90E8-4A07-42D4-8226-01E961305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03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18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98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55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9E90E8-4A07-42D4-8226-01E96130501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67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-4680" y="372240"/>
            <a:ext cx="8791200" cy="4402800"/>
            <a:chOff x="-4680" y="372240"/>
            <a:chExt cx="8791200" cy="4402800"/>
          </a:xfrm>
        </p:grpSpPr>
        <p:cxnSp>
          <p:nvCxnSpPr>
            <p:cNvPr id="3" name="Google Shape;10;p2"/>
            <p:cNvCxnSpPr/>
            <p:nvPr/>
          </p:nvCxnSpPr>
          <p:spPr>
            <a:xfrm>
              <a:off x="-4680" y="372240"/>
              <a:ext cx="878760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4" name="Google Shape;11;p2"/>
            <p:cNvCxnSpPr/>
            <p:nvPr/>
          </p:nvCxnSpPr>
          <p:spPr>
            <a:xfrm>
              <a:off x="720" y="4770720"/>
              <a:ext cx="87861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5" name="Google Shape;12;p2"/>
            <p:cNvCxnSpPr/>
            <p:nvPr/>
          </p:nvCxnSpPr>
          <p:spPr>
            <a:xfrm>
              <a:off x="333000" y="377280"/>
              <a:ext cx="360" cy="43981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84560" y="1080000"/>
            <a:ext cx="4649400" cy="2216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285520" y="36576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7;p3"/>
          <p:cNvGrpSpPr/>
          <p:nvPr/>
        </p:nvGrpSpPr>
        <p:grpSpPr>
          <a:xfrm>
            <a:off x="-4680" y="372240"/>
            <a:ext cx="8791200" cy="4402800"/>
            <a:chOff x="-4680" y="372240"/>
            <a:chExt cx="8791200" cy="4402800"/>
          </a:xfrm>
        </p:grpSpPr>
        <p:cxnSp>
          <p:nvCxnSpPr>
            <p:cNvPr id="17" name="Google Shape;18;p3"/>
            <p:cNvCxnSpPr/>
            <p:nvPr/>
          </p:nvCxnSpPr>
          <p:spPr>
            <a:xfrm>
              <a:off x="-4680" y="372240"/>
              <a:ext cx="878760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8" name="Google Shape;19;p3"/>
            <p:cNvCxnSpPr/>
            <p:nvPr/>
          </p:nvCxnSpPr>
          <p:spPr>
            <a:xfrm>
              <a:off x="720" y="4770720"/>
              <a:ext cx="87861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9" name="Google Shape;20;p3"/>
            <p:cNvCxnSpPr/>
            <p:nvPr/>
          </p:nvCxnSpPr>
          <p:spPr>
            <a:xfrm>
              <a:off x="333000" y="377280"/>
              <a:ext cx="360" cy="43981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14520" y="2648880"/>
            <a:ext cx="4544280" cy="1779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title"/>
          </p:nvPr>
        </p:nvSpPr>
        <p:spPr>
          <a:xfrm>
            <a:off x="713160" y="1540440"/>
            <a:ext cx="1288440" cy="110772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285880" y="36684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178;p25"/>
          <p:cNvGrpSpPr/>
          <p:nvPr/>
        </p:nvGrpSpPr>
        <p:grpSpPr>
          <a:xfrm>
            <a:off x="-4680" y="372240"/>
            <a:ext cx="8791200" cy="4402800"/>
            <a:chOff x="-4680" y="372240"/>
            <a:chExt cx="8791200" cy="4402800"/>
          </a:xfrm>
        </p:grpSpPr>
        <p:cxnSp>
          <p:nvCxnSpPr>
            <p:cNvPr id="24" name="Google Shape;179;p25"/>
            <p:cNvCxnSpPr/>
            <p:nvPr/>
          </p:nvCxnSpPr>
          <p:spPr>
            <a:xfrm>
              <a:off x="-4680" y="372240"/>
              <a:ext cx="878760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25" name="Google Shape;180;p25"/>
            <p:cNvCxnSpPr/>
            <p:nvPr/>
          </p:nvCxnSpPr>
          <p:spPr>
            <a:xfrm>
              <a:off x="720" y="4770720"/>
              <a:ext cx="87861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26" name="Google Shape;181;p25"/>
            <p:cNvCxnSpPr/>
            <p:nvPr/>
          </p:nvCxnSpPr>
          <p:spPr>
            <a:xfrm>
              <a:off x="333000" y="377280"/>
              <a:ext cx="360" cy="43981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243320" cy="129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285880" y="36576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Google Shape;185;p25"/>
          <p:cNvSpPr/>
          <p:nvPr/>
        </p:nvSpPr>
        <p:spPr>
          <a:xfrm>
            <a:off x="713160" y="3566520"/>
            <a:ext cx="3582000" cy="6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003920" y="448200"/>
            <a:ext cx="4284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33360" y="366840"/>
            <a:ext cx="3528720" cy="4780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0" name="Google Shape;105;p16"/>
          <p:cNvCxnSpPr/>
          <p:nvPr/>
        </p:nvCxnSpPr>
        <p:spPr>
          <a:xfrm>
            <a:off x="8818560" y="-29880"/>
            <a:ext cx="360" cy="5203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13160" y="444960"/>
            <a:ext cx="76233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13160" y="1281600"/>
            <a:ext cx="7717320" cy="308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13" name="Google Shape;121;p19"/>
          <p:cNvGrpSpPr/>
          <p:nvPr/>
        </p:nvGrpSpPr>
        <p:grpSpPr>
          <a:xfrm>
            <a:off x="329040" y="-29880"/>
            <a:ext cx="8489520" cy="5203080"/>
            <a:chOff x="329040" y="-29880"/>
            <a:chExt cx="8489520" cy="5203080"/>
          </a:xfrm>
        </p:grpSpPr>
        <p:cxnSp>
          <p:nvCxnSpPr>
            <p:cNvPr id="14" name="Google Shape;122;p19"/>
            <p:cNvCxnSpPr/>
            <p:nvPr/>
          </p:nvCxnSpPr>
          <p:spPr>
            <a:xfrm>
              <a:off x="32904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5" name="Google Shape;123;p19"/>
            <p:cNvCxnSpPr/>
            <p:nvPr/>
          </p:nvCxnSpPr>
          <p:spPr>
            <a:xfrm>
              <a:off x="881856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1" name="Google Shape;27;p4"/>
          <p:cNvGrpSpPr/>
          <p:nvPr/>
        </p:nvGrpSpPr>
        <p:grpSpPr>
          <a:xfrm>
            <a:off x="329040" y="-29880"/>
            <a:ext cx="8485560" cy="5203080"/>
            <a:chOff x="329040" y="-29880"/>
            <a:chExt cx="8485560" cy="5203080"/>
          </a:xfrm>
        </p:grpSpPr>
        <p:cxnSp>
          <p:nvCxnSpPr>
            <p:cNvPr id="32" name="Google Shape;28;p4"/>
            <p:cNvCxnSpPr/>
            <p:nvPr/>
          </p:nvCxnSpPr>
          <p:spPr>
            <a:xfrm>
              <a:off x="881460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33" name="Google Shape;29;p4"/>
            <p:cNvCxnSpPr/>
            <p:nvPr/>
          </p:nvCxnSpPr>
          <p:spPr>
            <a:xfrm>
              <a:off x="329040" y="-29880"/>
              <a:ext cx="360" cy="520344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lants-beta-ten.vercel.app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nts-beta-ten.vercel.app/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5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204;p31"/>
          <p:cNvSpPr/>
          <p:nvPr/>
        </p:nvSpPr>
        <p:spPr>
          <a:xfrm>
            <a:off x="5286240" y="361800"/>
            <a:ext cx="3524040" cy="4781160"/>
          </a:xfrm>
          <a:prstGeom prst="rect">
            <a:avLst/>
          </a:prstGeom>
          <a:solidFill>
            <a:srgbClr val="485A4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90760" rIns="870823080" bIns="239076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7283" y="1588737"/>
            <a:ext cx="4647960" cy="9418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fr-FR" sz="2800" b="1" dirty="0">
                <a:solidFill>
                  <a:schemeClr val="dk1"/>
                </a:solidFill>
              </a:rPr>
              <a:t>Plant </a:t>
            </a:r>
            <a:r>
              <a:rPr lang="fr-FR" sz="2800" b="1" dirty="0" err="1">
                <a:solidFill>
                  <a:schemeClr val="dk1"/>
                </a:solidFill>
              </a:rPr>
              <a:t>Disease</a:t>
            </a:r>
            <a:r>
              <a:rPr lang="fr-FR" sz="2800" b="1" dirty="0">
                <a:solidFill>
                  <a:schemeClr val="dk1"/>
                </a:solidFill>
              </a:rPr>
              <a:t> BI System</a:t>
            </a:r>
            <a:endParaRPr lang="fr-FR" sz="2800" b="1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ubTitle"/>
          </p:nvPr>
        </p:nvSpPr>
        <p:spPr>
          <a:xfrm>
            <a:off x="593299" y="2530544"/>
            <a:ext cx="4291965" cy="6188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400" dirty="0">
                <a:solidFill>
                  <a:srgbClr val="FFFFFF"/>
                </a:solidFill>
                <a:latin typeface="OpenSymbol"/>
              </a:rPr>
              <a:t>EfficientNetB0 Transfer Learning | Power BI Analytics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8" name="Google Shape;207;p31"/>
          <p:cNvPicPr/>
          <p:nvPr/>
        </p:nvPicPr>
        <p:blipFill>
          <a:blip r:embed="rId2"/>
          <a:stretch/>
        </p:blipFill>
        <p:spPr>
          <a:xfrm>
            <a:off x="5285520" y="365760"/>
            <a:ext cx="3528720" cy="47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417FED-D438-E27E-D1B5-1309082CF85B}"/>
              </a:ext>
            </a:extLst>
          </p:cNvPr>
          <p:cNvSpPr txBox="1"/>
          <p:nvPr/>
        </p:nvSpPr>
        <p:spPr>
          <a:xfrm>
            <a:off x="507283" y="4045483"/>
            <a:ext cx="3711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Prepared by: Nada Ahmed Khattab</a:t>
            </a:r>
          </a:p>
          <a:p>
            <a:r>
              <a:rPr lang="en-US" sz="1000" dirty="0"/>
              <a:t>Supervisor: Husam Barham</a:t>
            </a:r>
          </a:p>
          <a:p>
            <a:r>
              <a:rPr lang="en-US" sz="1000" dirty="0"/>
              <a:t>University of Petra | Business Intelligence</a:t>
            </a:r>
          </a:p>
          <a:p>
            <a:r>
              <a:rPr lang="en-US" sz="1000" dirty="0"/>
              <a:t>Submission Date: 1 / 6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000680" y="239815"/>
            <a:ext cx="42858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Introduction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4206285" y="811135"/>
            <a:ext cx="4285800" cy="25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Plants are essential for food security, agriculture, and human life.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Plant diseases can reduce crop quality and cause major losses if they are not detected early.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The idea of this project came from the need to analyze plant leaf </a:t>
            </a:r>
            <a:r>
              <a:rPr lang="en-US" sz="1300" b="1" dirty="0">
                <a:solidFill>
                  <a:schemeClr val="dk1"/>
                </a:solidFill>
                <a:latin typeface="DM Sans"/>
                <a:ea typeface="DM Sans"/>
              </a:rPr>
              <a:t>images</a:t>
            </a:r>
            <a:r>
              <a:rPr lang="en-US" sz="1400" dirty="0">
                <a:solidFill>
                  <a:schemeClr val="dk1"/>
                </a:solidFill>
                <a:latin typeface="DM Sans"/>
                <a:ea typeface="DM Sans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using AI.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The project focuses on image analysis, where plant leaf </a:t>
            </a:r>
            <a:r>
              <a:rPr lang="en-US" sz="1200" b="1" dirty="0">
                <a:solidFill>
                  <a:schemeClr val="dk1"/>
                </a:solidFill>
                <a:latin typeface="DM Sans"/>
                <a:ea typeface="DM Sans"/>
              </a:rPr>
              <a:t>images </a:t>
            </a: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are classified into healthy or diseased classes.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The results are then visualized using Power BI dashboards to make the analysis easier to understand.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88D959-6BFE-C3E6-9D53-610B5928BF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587" y="0"/>
            <a:ext cx="411626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647800"/>
            <a:ext cx="4543200" cy="178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0" u="none" strike="noStrik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Project Overview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714240" y="-3022200"/>
            <a:ext cx="1285560" cy="5669640"/>
          </a:xfrm>
          <a:prstGeom prst="rect">
            <a:avLst/>
          </a:prstGeom>
          <a:noFill/>
          <a:ln w="9360">
            <a:solidFill>
              <a:schemeClr val="dk1"/>
            </a:solidFill>
            <a:round/>
          </a:ln>
        </p:spPr>
        <p:txBody>
          <a:bodyPr lIns="91440" tIns="91440" rIns="91440" bIns="91440" anchor="b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erif Display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4" name="Google Shape;258;p36"/>
          <p:cNvPicPr/>
          <p:nvPr/>
        </p:nvPicPr>
        <p:blipFill>
          <a:blip r:embed="rId2"/>
          <a:stretch/>
        </p:blipFill>
        <p:spPr>
          <a:xfrm flipH="1">
            <a:off x="5285880" y="366840"/>
            <a:ext cx="3528720" cy="4780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4240" y="447840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dirty="0">
                <a:solidFill>
                  <a:schemeClr val="dk1"/>
                </a:solidFill>
                <a:latin typeface="DM Serif Display"/>
                <a:ea typeface="DM Serif Display"/>
              </a:rPr>
              <a:t>Problem Statement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714240" y="1285920"/>
            <a:ext cx="771480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  <a:ea typeface="DM Sans"/>
              </a:rPr>
              <a:t>Plant diseases can reduce crop quality and affect food security.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5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  <a:ea typeface="DM Sans"/>
              </a:rPr>
              <a:t>Manual diagnosis is slow, depends on expert knowledge, and may be error-prone.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500" dirty="0">
              <a:solidFill>
                <a:schemeClr val="dk1"/>
              </a:solidFill>
              <a:latin typeface="DM Sans"/>
              <a:ea typeface="DM Sans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  <a:ea typeface="DM Sans"/>
              </a:rPr>
              <a:t>This project supports faster plant disease analysis by using image classification and BI dashboards.</a:t>
            </a:r>
            <a:endParaRPr lang="fr-FR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37AB-EDFC-E322-FACE-2C2B0BCC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07764"/>
            <a:ext cx="7703640" cy="572400"/>
          </a:xfrm>
        </p:spPr>
        <p:txBody>
          <a:bodyPr/>
          <a:lstStyle/>
          <a:p>
            <a:pPr algn="ctr"/>
            <a:r>
              <a:rPr lang="en-US" dirty="0"/>
              <a:t>Dataset Samples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A05517-1740-4DC1-912E-2DC6AB1E6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1"/>
          <a:stretch>
            <a:fillRect/>
          </a:stretch>
        </p:blipFill>
        <p:spPr>
          <a:xfrm>
            <a:off x="1255689" y="825954"/>
            <a:ext cx="6782485" cy="3359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9EFC4B-9D72-6B44-25B8-581D094846F6}"/>
              </a:ext>
            </a:extLst>
          </p:cNvPr>
          <p:cNvSpPr txBox="1"/>
          <p:nvPr/>
        </p:nvSpPr>
        <p:spPr>
          <a:xfrm>
            <a:off x="555807" y="4450458"/>
            <a:ext cx="82635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accent6">
                    <a:lumMod val="85000"/>
                  </a:schemeClr>
                </a:solidFill>
                <a:latin typeface="DM Sans" pitchFamily="2" charset="0"/>
              </a:rPr>
              <a:t>The dataset includes healthy and diseased plant leaf images from multiple plant types such as tomato, potato, apple, corn, grape, orange, and others.</a:t>
            </a:r>
          </a:p>
        </p:txBody>
      </p:sp>
    </p:spTree>
    <p:extLst>
      <p:ext uri="{BB962C8B-B14F-4D97-AF65-F5344CB8AC3E}">
        <p14:creationId xmlns:p14="http://schemas.microsoft.com/office/powerpoint/2010/main" val="1259726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362160" y="360789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</a:rPr>
              <a:t>Objectives 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49226" y="1020814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• </a:t>
            </a:r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Classify plant leaf images into healthy or diseased classes.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• Predict the exact plant disease class.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• Evaluate the model using accuracy, precision, recall, and F1-score.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• Visualize model results using Power BI dashboards.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dirty="0">
              <a:solidFill>
                <a:srgbClr val="FFFFFF"/>
              </a:solidFill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• Support decision-making through clear BI insights.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DM Sans" pitchFamily="2" charset="0"/>
            </a:endParaRPr>
          </a:p>
        </p:txBody>
      </p:sp>
      <p:pic>
        <p:nvPicPr>
          <p:cNvPr id="49" name="image6a08dd5e622a6" descr="image6a08dd5e622aa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000" dirty="0">
                <a:solidFill>
                  <a:schemeClr val="dk1"/>
                </a:solidFill>
                <a:latin typeface="DM Serif Display"/>
              </a:rPr>
              <a:t>System Block Diagram</a:t>
            </a:r>
            <a:endParaRPr lang="en-US" sz="3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37487" y="1042084"/>
            <a:ext cx="8191080" cy="36251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Dataset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Preprocessing &amp; Augmentation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EfficientNetB0 AI Model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Evaluation Results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Power BI Dashboard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↓</a:t>
            </a: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500" dirty="0">
                <a:solidFill>
                  <a:schemeClr val="dk1"/>
                </a:solidFill>
                <a:latin typeface="DM Sans"/>
              </a:rPr>
              <a:t>Decision Support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DM Serif Display"/>
              </a:rPr>
              <a:t>Model &amp; Results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54" name="image6a08dd5e6d5c9" descr="image6a08dd5e6d5cc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14600" y="273817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Dataset &amp; Quality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714600" y="1176449"/>
            <a:ext cx="771480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Dataset contains 38 classes: 34,765 training images, 8,691 validation images, and 10,845 test images.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Data quality check showed </a:t>
            </a:r>
            <a:r>
              <a:rPr lang="ar-SA" sz="1400" dirty="0">
                <a:latin typeface="DM Sans" pitchFamily="2" charset="0"/>
              </a:rPr>
              <a:t>0</a:t>
            </a:r>
            <a:r>
              <a:rPr lang="en-US" sz="1400" dirty="0">
                <a:latin typeface="DM Sans" pitchFamily="2" charset="0"/>
              </a:rPr>
              <a:t> corrupted images. Four duplicate test images were found and removed, resulting in </a:t>
            </a:r>
            <a:r>
              <a:rPr lang="ar-SA" sz="1400" dirty="0">
                <a:latin typeface="DM Sans" pitchFamily="2" charset="0"/>
              </a:rPr>
              <a:t>0</a:t>
            </a:r>
            <a:r>
              <a:rPr lang="en-US" sz="1400" dirty="0">
                <a:latin typeface="DM Sans" pitchFamily="2" charset="0"/>
              </a:rPr>
              <a:t> final duplicates.</a:t>
            </a:r>
            <a:endParaRPr lang="fr-FR" sz="1400" b="0" u="none" strike="noStrike" dirty="0">
              <a:effectLst/>
              <a:uFillTx/>
              <a:latin typeface="DM Sans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4FB4AF-1880-6AAF-0329-59269446DB2B}"/>
              </a:ext>
            </a:extLst>
          </p:cNvPr>
          <p:cNvSpPr/>
          <p:nvPr/>
        </p:nvSpPr>
        <p:spPr>
          <a:xfrm>
            <a:off x="985235" y="3279155"/>
            <a:ext cx="1860997" cy="1056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M Sans" pitchFamily="2" charset="0"/>
              </a:rPr>
              <a:t>38 </a:t>
            </a:r>
            <a:r>
              <a:rPr lang="en-US" sz="1600" dirty="0">
                <a:latin typeface="DM Sans" pitchFamily="2" charset="0"/>
              </a:rPr>
              <a:t>Classes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3E5AAE-5118-52E5-DD34-11B120BA87D1}"/>
              </a:ext>
            </a:extLst>
          </p:cNvPr>
          <p:cNvSpPr/>
          <p:nvPr/>
        </p:nvSpPr>
        <p:spPr>
          <a:xfrm>
            <a:off x="5984448" y="3279155"/>
            <a:ext cx="1860997" cy="1056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B115662-71F0-A2D4-5CAE-D5656CA444CD}"/>
              </a:ext>
            </a:extLst>
          </p:cNvPr>
          <p:cNvSpPr/>
          <p:nvPr/>
        </p:nvSpPr>
        <p:spPr>
          <a:xfrm>
            <a:off x="3539497" y="3279155"/>
            <a:ext cx="1860997" cy="10560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M Sans" pitchFamily="2" charset="0"/>
              </a:rPr>
              <a:t>34,765</a:t>
            </a:r>
            <a:r>
              <a:rPr lang="en-US" sz="1600" dirty="0">
                <a:latin typeface="DM Sans" pitchFamily="2" charset="0"/>
              </a:rPr>
              <a:t> </a:t>
            </a:r>
            <a:r>
              <a:rPr lang="en-US" sz="1600" dirty="0">
                <a:solidFill>
                  <a:srgbClr val="485A4E"/>
                </a:solidFill>
                <a:latin typeface="DM Sans" pitchFamily="2" charset="0"/>
              </a:rPr>
              <a:t>Training</a:t>
            </a:r>
          </a:p>
          <a:p>
            <a:pPr algn="ctr"/>
            <a:r>
              <a:rPr lang="en-US" dirty="0">
                <a:latin typeface="DM Sans" pitchFamily="2" charset="0"/>
              </a:rPr>
              <a:t>8,691</a:t>
            </a:r>
            <a:r>
              <a:rPr lang="en-US" sz="1600" dirty="0">
                <a:latin typeface="DM Sans" pitchFamily="2" charset="0"/>
              </a:rPr>
              <a:t> Validation</a:t>
            </a:r>
          </a:p>
          <a:p>
            <a:pPr algn="ctr"/>
            <a:r>
              <a:rPr lang="en-US" dirty="0">
                <a:latin typeface="DM Sans" pitchFamily="2" charset="0"/>
              </a:rPr>
              <a:t>10,845 Test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567716-D3A8-8682-A51E-308FDEC8CF17}"/>
              </a:ext>
            </a:extLst>
          </p:cNvPr>
          <p:cNvSpPr txBox="1"/>
          <p:nvPr/>
        </p:nvSpPr>
        <p:spPr>
          <a:xfrm>
            <a:off x="5984447" y="3360913"/>
            <a:ext cx="18609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A" sz="1600" dirty="0">
                <a:solidFill>
                  <a:srgbClr val="485A4E"/>
                </a:solidFill>
                <a:latin typeface="DM Sans" pitchFamily="2" charset="0"/>
              </a:rPr>
              <a:t>0</a:t>
            </a:r>
            <a:r>
              <a:rPr lang="en-US" sz="1600" dirty="0">
                <a:solidFill>
                  <a:srgbClr val="485A4E"/>
                </a:solidFill>
                <a:latin typeface="DM Sans" pitchFamily="2" charset="0"/>
              </a:rPr>
              <a:t> Corrupted</a:t>
            </a:r>
          </a:p>
          <a:p>
            <a:pPr algn="ctr"/>
            <a:r>
              <a:rPr lang="en-US" dirty="0">
                <a:solidFill>
                  <a:srgbClr val="485A4E"/>
                </a:solidFill>
                <a:latin typeface="DM Sans" pitchFamily="2" charset="0"/>
              </a:rPr>
              <a:t>4</a:t>
            </a:r>
            <a:r>
              <a:rPr lang="en-US" sz="1600" dirty="0">
                <a:solidFill>
                  <a:srgbClr val="485A4E"/>
                </a:solidFill>
                <a:latin typeface="DM Sans" pitchFamily="2" charset="0"/>
              </a:rPr>
              <a:t> Duplicates Removed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B91C3F-0FCA-0F27-98C6-330E2282162A}"/>
              </a:ext>
            </a:extLst>
          </p:cNvPr>
          <p:cNvSpPr txBox="1"/>
          <p:nvPr/>
        </p:nvSpPr>
        <p:spPr>
          <a:xfrm>
            <a:off x="2781304" y="789322"/>
            <a:ext cx="46531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Dataset Source: Public online datasets + Al-Thara Company (</a:t>
            </a:r>
            <a:r>
              <a:rPr lang="ar-SA" sz="900" dirty="0"/>
              <a:t>(الثرى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8E046-E18C-319A-4BB3-6B7FB916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160" y="444960"/>
            <a:ext cx="7894538" cy="572400"/>
          </a:xfrm>
        </p:spPr>
        <p:txBody>
          <a:bodyPr/>
          <a:lstStyle/>
          <a:p>
            <a:r>
              <a:rPr lang="en-US" sz="2800" dirty="0">
                <a:latin typeface="DM Serif Display" pitchFamily="2" charset="0"/>
              </a:rPr>
              <a:t>Duplicate Check &amp; Data Leakage Prevention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E9395-D614-7C85-E543-AB7343A8135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90378" y="1457065"/>
            <a:ext cx="7717320" cy="1950997"/>
          </a:xfrm>
        </p:spPr>
        <p:txBody>
          <a:bodyPr/>
          <a:lstStyle/>
          <a:p>
            <a:r>
              <a:rPr lang="en-US" sz="1700" dirty="0">
                <a:latin typeface="DM Sans" pitchFamily="2" charset="0"/>
              </a:rPr>
              <a:t>Duplicate Check &amp; Data Leakage Prevention</a:t>
            </a:r>
          </a:p>
          <a:p>
            <a:endParaRPr lang="en-US" sz="1700" dirty="0">
              <a:latin typeface="DM Sans" pitchFamily="2" charset="0"/>
            </a:endParaRPr>
          </a:p>
          <a:p>
            <a:r>
              <a:rPr lang="en-US" sz="1700" dirty="0">
                <a:latin typeface="DM Sans" pitchFamily="2" charset="0"/>
              </a:rPr>
              <a:t>Duplicate test images were checked against training images</a:t>
            </a:r>
          </a:p>
          <a:p>
            <a:r>
              <a:rPr lang="en-US" sz="1700" dirty="0">
                <a:latin typeface="DM Sans" pitchFamily="2" charset="0"/>
              </a:rPr>
              <a:t>using SHA-256 hashing.</a:t>
            </a:r>
          </a:p>
          <a:p>
            <a:endParaRPr lang="en-US" sz="1700" dirty="0">
              <a:latin typeface="DM Sans" pitchFamily="2" charset="0"/>
            </a:endParaRPr>
          </a:p>
          <a:p>
            <a:r>
              <a:rPr lang="en-US" sz="1700" dirty="0">
                <a:latin typeface="DM Sans" pitchFamily="2" charset="0"/>
              </a:rPr>
              <a:t>Four duplicate test images were removed</a:t>
            </a:r>
          </a:p>
          <a:p>
            <a:r>
              <a:rPr lang="en-US" sz="1700" dirty="0">
                <a:latin typeface="DM Sans" pitchFamily="2" charset="0"/>
              </a:rPr>
              <a:t>to reduce the risk of data leakage</a:t>
            </a:r>
          </a:p>
          <a:p>
            <a:r>
              <a:rPr lang="en-US" sz="1700" dirty="0">
                <a:latin typeface="DM Sans" pitchFamily="2" charset="0"/>
              </a:rPr>
              <a:t>and make the evaluation more reliable.</a:t>
            </a:r>
          </a:p>
        </p:txBody>
      </p:sp>
    </p:spTree>
    <p:extLst>
      <p:ext uri="{BB962C8B-B14F-4D97-AF65-F5344CB8AC3E}">
        <p14:creationId xmlns:p14="http://schemas.microsoft.com/office/powerpoint/2010/main" val="2924870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1396089" y="32573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000" b="1" dirty="0">
                <a:solidFill>
                  <a:srgbClr val="FFFFFF"/>
                </a:solidFill>
                <a:latin typeface="DM Sans" pitchFamily="2" charset="0"/>
              </a:rPr>
              <a:t>EfficientNetB0 Model Architecture</a:t>
            </a:r>
            <a:endParaRPr lang="en-US" sz="3000" b="1" u="none" strike="noStrike" dirty="0">
              <a:solidFill>
                <a:srgbClr val="FFFFFF"/>
              </a:solidFill>
              <a:effectLst/>
              <a:uFillTx/>
              <a:latin typeface="DM Sans" pitchFamily="2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1DCE354-81E0-0230-512B-CD3FB6961A71}"/>
              </a:ext>
            </a:extLst>
          </p:cNvPr>
          <p:cNvSpPr/>
          <p:nvPr/>
        </p:nvSpPr>
        <p:spPr>
          <a:xfrm>
            <a:off x="3577614" y="628325"/>
            <a:ext cx="1658917" cy="3564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rgbClr val="FFFFFF"/>
                </a:solidFill>
                <a:latin typeface="DM Sans" pitchFamily="2" charset="0"/>
              </a:rPr>
              <a:t>Data Augmentation</a:t>
            </a:r>
            <a:endParaRPr lang="en-US" sz="9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84958DE-6B2A-94C8-6BA5-9191A416CBB2}"/>
              </a:ext>
            </a:extLst>
          </p:cNvPr>
          <p:cNvSpPr/>
          <p:nvPr/>
        </p:nvSpPr>
        <p:spPr>
          <a:xfrm>
            <a:off x="3575197" y="3744654"/>
            <a:ext cx="1679427" cy="39752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902A25C-E23F-8EEF-EF2B-FECBBB0C79AE}"/>
              </a:ext>
            </a:extLst>
          </p:cNvPr>
          <p:cNvSpPr/>
          <p:nvPr/>
        </p:nvSpPr>
        <p:spPr>
          <a:xfrm>
            <a:off x="3585558" y="4414352"/>
            <a:ext cx="1696333" cy="3874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7D9E77-3A4E-EE52-7CAD-77A8498B64B8}"/>
              </a:ext>
            </a:extLst>
          </p:cNvPr>
          <p:cNvSpPr/>
          <p:nvPr/>
        </p:nvSpPr>
        <p:spPr>
          <a:xfrm>
            <a:off x="3585454" y="1198466"/>
            <a:ext cx="1658918" cy="394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629397-3549-F119-DDBC-081B1F99F519}"/>
              </a:ext>
            </a:extLst>
          </p:cNvPr>
          <p:cNvSpPr/>
          <p:nvPr/>
        </p:nvSpPr>
        <p:spPr>
          <a:xfrm>
            <a:off x="3577614" y="1830857"/>
            <a:ext cx="1658919" cy="3946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AB1785-48D4-D177-E1BF-5AFB0447A070}"/>
              </a:ext>
            </a:extLst>
          </p:cNvPr>
          <p:cNvSpPr/>
          <p:nvPr/>
        </p:nvSpPr>
        <p:spPr>
          <a:xfrm>
            <a:off x="3585454" y="2453234"/>
            <a:ext cx="1654168" cy="4304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BDB838-2225-5B57-7978-D1006B823D05}"/>
              </a:ext>
            </a:extLst>
          </p:cNvPr>
          <p:cNvSpPr/>
          <p:nvPr/>
        </p:nvSpPr>
        <p:spPr>
          <a:xfrm>
            <a:off x="3585454" y="3106737"/>
            <a:ext cx="1676549" cy="4148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713B08-8D14-6ACD-BA84-80913C40F787}"/>
              </a:ext>
            </a:extLst>
          </p:cNvPr>
          <p:cNvSpPr txBox="1"/>
          <p:nvPr/>
        </p:nvSpPr>
        <p:spPr>
          <a:xfrm rot="5400000">
            <a:off x="4262977" y="2816651"/>
            <a:ext cx="3414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1535E-A2F6-A124-2E72-CF5EF89AC747}"/>
              </a:ext>
            </a:extLst>
          </p:cNvPr>
          <p:cNvSpPr txBox="1"/>
          <p:nvPr/>
        </p:nvSpPr>
        <p:spPr>
          <a:xfrm rot="5400000">
            <a:off x="4164963" y="1007708"/>
            <a:ext cx="5400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EF9853-06BC-3D83-314E-409A54DACFDD}"/>
              </a:ext>
            </a:extLst>
          </p:cNvPr>
          <p:cNvSpPr txBox="1"/>
          <p:nvPr/>
        </p:nvSpPr>
        <p:spPr>
          <a:xfrm rot="5400000">
            <a:off x="4291785" y="4068910"/>
            <a:ext cx="3343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3DF150-9FAF-FFCB-3A16-17AC67E82996}"/>
              </a:ext>
            </a:extLst>
          </p:cNvPr>
          <p:cNvSpPr txBox="1"/>
          <p:nvPr/>
        </p:nvSpPr>
        <p:spPr>
          <a:xfrm rot="5400000">
            <a:off x="4217602" y="1568591"/>
            <a:ext cx="3946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F2617-4B99-5BF1-E7EB-A0666E918D0E}"/>
              </a:ext>
            </a:extLst>
          </p:cNvPr>
          <p:cNvSpPr txBox="1"/>
          <p:nvPr/>
        </p:nvSpPr>
        <p:spPr>
          <a:xfrm rot="5400000">
            <a:off x="4180491" y="3541842"/>
            <a:ext cx="5263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7DA309-2535-C8F9-E516-AEC50E7F4948}"/>
              </a:ext>
            </a:extLst>
          </p:cNvPr>
          <p:cNvSpPr txBox="1"/>
          <p:nvPr/>
        </p:nvSpPr>
        <p:spPr>
          <a:xfrm>
            <a:off x="3557839" y="1246357"/>
            <a:ext cx="18275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DM Sans" pitchFamily="2" charset="0"/>
              </a:rPr>
              <a:t>EfficientNetB0 Feature Extractor</a:t>
            </a:r>
            <a:endParaRPr 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C600ED-A222-E019-4C4E-EAC4E0EF1604}"/>
              </a:ext>
            </a:extLst>
          </p:cNvPr>
          <p:cNvSpPr txBox="1"/>
          <p:nvPr/>
        </p:nvSpPr>
        <p:spPr>
          <a:xfrm>
            <a:off x="3577614" y="1885992"/>
            <a:ext cx="28269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FFFF"/>
                </a:solidFill>
                <a:latin typeface="DM Sans" pitchFamily="2" charset="0"/>
              </a:rPr>
              <a:t>Global Average Pooling</a:t>
            </a:r>
            <a:endParaRPr 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ED7E52-606B-D54D-C3CC-D4992D71A46C}"/>
              </a:ext>
            </a:extLst>
          </p:cNvPr>
          <p:cNvSpPr txBox="1"/>
          <p:nvPr/>
        </p:nvSpPr>
        <p:spPr>
          <a:xfrm>
            <a:off x="3631902" y="2547754"/>
            <a:ext cx="165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Batch Normalization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2CC3A0-6EB2-F0EB-828A-1C48268383C5}"/>
              </a:ext>
            </a:extLst>
          </p:cNvPr>
          <p:cNvSpPr txBox="1"/>
          <p:nvPr/>
        </p:nvSpPr>
        <p:spPr>
          <a:xfrm>
            <a:off x="4012275" y="3158457"/>
            <a:ext cx="1957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Dropout</a:t>
            </a:r>
            <a:endParaRPr 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23BE0D-F66E-3A65-C288-CA316AD15A01}"/>
              </a:ext>
            </a:extLst>
          </p:cNvPr>
          <p:cNvSpPr txBox="1"/>
          <p:nvPr/>
        </p:nvSpPr>
        <p:spPr>
          <a:xfrm>
            <a:off x="3643973" y="3811289"/>
            <a:ext cx="15795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DM Sans" pitchFamily="2" charset="0"/>
              </a:rPr>
              <a:t>Dense Layers</a:t>
            </a:r>
            <a:endParaRPr 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78D46C-A170-B920-7629-077EB970CA9D}"/>
              </a:ext>
            </a:extLst>
          </p:cNvPr>
          <p:cNvSpPr txBox="1"/>
          <p:nvPr/>
        </p:nvSpPr>
        <p:spPr>
          <a:xfrm>
            <a:off x="3151183" y="4414532"/>
            <a:ext cx="2640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FFFF"/>
                </a:solidFill>
                <a:latin typeface="DM Sans" pitchFamily="2" charset="0"/>
              </a:rPr>
              <a:t>Softmax Output</a:t>
            </a:r>
          </a:p>
          <a:p>
            <a:pPr algn="ctr"/>
            <a:r>
              <a:rPr lang="en-US" sz="1100" dirty="0">
                <a:latin typeface="DM Sans" pitchFamily="2" charset="0"/>
              </a:rPr>
              <a:t>38 Classes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E71D04F-1054-33ED-D7E3-7352DB3513FE}"/>
              </a:ext>
            </a:extLst>
          </p:cNvPr>
          <p:cNvSpPr txBox="1"/>
          <p:nvPr/>
        </p:nvSpPr>
        <p:spPr>
          <a:xfrm rot="5400000">
            <a:off x="4236418" y="2184833"/>
            <a:ext cx="39461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FFFFFF"/>
                </a:solidFill>
                <a:latin typeface="DM Sans" pitchFamily="2" charset="0"/>
              </a:rPr>
              <a:t>→</a:t>
            </a:r>
            <a:endParaRPr lang="en-US" sz="15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AB6983-BE14-2048-9980-EF9CFC4FCB4C}"/>
              </a:ext>
            </a:extLst>
          </p:cNvPr>
          <p:cNvSpPr txBox="1"/>
          <p:nvPr/>
        </p:nvSpPr>
        <p:spPr>
          <a:xfrm>
            <a:off x="400843" y="4917506"/>
            <a:ext cx="72579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6">
                    <a:lumMod val="85000"/>
                  </a:schemeClr>
                </a:solidFill>
                <a:latin typeface="DM Sans" pitchFamily="2" charset="0"/>
              </a:rPr>
              <a:t>The model extracts visual features from plant leaf images and classifies them into 38 healthy or diseased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8AF83-359F-0233-42A4-EAA205C3B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838" y="291616"/>
            <a:ext cx="770364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Model Evaluation Results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45FBBB-2009-F8D3-5A66-C59C554F4ACE}"/>
              </a:ext>
            </a:extLst>
          </p:cNvPr>
          <p:cNvSpPr/>
          <p:nvPr/>
        </p:nvSpPr>
        <p:spPr>
          <a:xfrm>
            <a:off x="589771" y="1485123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BE562-9D53-7D90-61FE-DE7864AD02D4}"/>
              </a:ext>
            </a:extLst>
          </p:cNvPr>
          <p:cNvSpPr txBox="1"/>
          <p:nvPr/>
        </p:nvSpPr>
        <p:spPr>
          <a:xfrm>
            <a:off x="1080608" y="1499055"/>
            <a:ext cx="23683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Accuracy</a:t>
            </a:r>
          </a:p>
          <a:p>
            <a:pPr algn="ctr"/>
            <a:r>
              <a:rPr lang="en-US" sz="1600" dirty="0">
                <a:latin typeface="DM Sans" pitchFamily="2" charset="0"/>
              </a:rPr>
              <a:t> </a:t>
            </a:r>
            <a:r>
              <a:rPr lang="en-US" b="1" dirty="0">
                <a:latin typeface="DM Sans" pitchFamily="2" charset="0"/>
              </a:rPr>
              <a:t>95.81%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AB6351-E250-26A5-F40F-EBE9FA1BC0DA}"/>
              </a:ext>
            </a:extLst>
          </p:cNvPr>
          <p:cNvSpPr/>
          <p:nvPr/>
        </p:nvSpPr>
        <p:spPr>
          <a:xfrm>
            <a:off x="595452" y="2450637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71C49C-4F4E-30E1-6B93-E1E20E7DECAB}"/>
              </a:ext>
            </a:extLst>
          </p:cNvPr>
          <p:cNvSpPr/>
          <p:nvPr/>
        </p:nvSpPr>
        <p:spPr>
          <a:xfrm>
            <a:off x="2736493" y="3391663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DM Sans" pitchFamily="2" charset="0"/>
              </a:rPr>
              <a:t>Disease Classes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DM Sans" pitchFamily="2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DM Sans" pitchFamily="2" charset="0"/>
              </a:rPr>
              <a:t>38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7E17F7-E8BC-8AB8-87D2-E2A585FAB124}"/>
              </a:ext>
            </a:extLst>
          </p:cNvPr>
          <p:cNvSpPr/>
          <p:nvPr/>
        </p:nvSpPr>
        <p:spPr>
          <a:xfrm>
            <a:off x="4962678" y="2450637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C287BF-7C40-1F1D-9F4B-791747F7088C}"/>
              </a:ext>
            </a:extLst>
          </p:cNvPr>
          <p:cNvSpPr/>
          <p:nvPr/>
        </p:nvSpPr>
        <p:spPr>
          <a:xfrm>
            <a:off x="4948829" y="1499055"/>
            <a:ext cx="3468228" cy="5464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92EFD-AE59-F022-0465-88F119F04B21}"/>
              </a:ext>
            </a:extLst>
          </p:cNvPr>
          <p:cNvSpPr txBox="1"/>
          <p:nvPr/>
        </p:nvSpPr>
        <p:spPr>
          <a:xfrm>
            <a:off x="4923432" y="1467352"/>
            <a:ext cx="333184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Macro F1-score</a:t>
            </a:r>
          </a:p>
          <a:p>
            <a:pPr algn="ctr"/>
            <a:r>
              <a:rPr lang="en-US" b="1" dirty="0">
                <a:latin typeface="DM Sans" pitchFamily="2" charset="0"/>
              </a:rPr>
              <a:t>94.42%</a:t>
            </a:r>
          </a:p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CF71D0-3450-6ACA-574E-2210691BC33F}"/>
              </a:ext>
            </a:extLst>
          </p:cNvPr>
          <p:cNvSpPr txBox="1"/>
          <p:nvPr/>
        </p:nvSpPr>
        <p:spPr>
          <a:xfrm>
            <a:off x="551315" y="2431802"/>
            <a:ext cx="34269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Balanced Accuracy</a:t>
            </a:r>
          </a:p>
          <a:p>
            <a:pPr algn="ctr"/>
            <a:r>
              <a:rPr lang="en-US" b="1" dirty="0">
                <a:latin typeface="DM Sans" pitchFamily="2" charset="0"/>
              </a:rPr>
              <a:t>93.96%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27072C-D8F7-BA32-B247-79C47E195C70}"/>
              </a:ext>
            </a:extLst>
          </p:cNvPr>
          <p:cNvSpPr txBox="1"/>
          <p:nvPr/>
        </p:nvSpPr>
        <p:spPr>
          <a:xfrm>
            <a:off x="5030868" y="2445236"/>
            <a:ext cx="311697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DM Sans" pitchFamily="2" charset="0"/>
              </a:rPr>
              <a:t>Weighted F1-score</a:t>
            </a:r>
          </a:p>
          <a:p>
            <a:pPr algn="ctr"/>
            <a:r>
              <a:rPr lang="en-US" sz="1600" b="1" dirty="0">
                <a:latin typeface="DM Sans" pitchFamily="2" charset="0"/>
              </a:rPr>
              <a:t> </a:t>
            </a:r>
            <a:r>
              <a:rPr lang="en-US" b="1" dirty="0">
                <a:latin typeface="DM Sans" pitchFamily="2" charset="0"/>
              </a:rPr>
              <a:t>95.70%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496F8D-6C4F-6544-387E-63838EFD230E}"/>
              </a:ext>
            </a:extLst>
          </p:cNvPr>
          <p:cNvSpPr txBox="1"/>
          <p:nvPr/>
        </p:nvSpPr>
        <p:spPr>
          <a:xfrm>
            <a:off x="462401" y="4697852"/>
            <a:ext cx="811616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>
                <a:latin typeface="DM Sans" pitchFamily="2" charset="0"/>
              </a:rPr>
              <a:t>Multiple metrics were used to evaluate performance because the dataset contains class imbalance.</a:t>
            </a:r>
          </a:p>
        </p:txBody>
      </p:sp>
    </p:spTree>
    <p:extLst>
      <p:ext uri="{BB962C8B-B14F-4D97-AF65-F5344CB8AC3E}">
        <p14:creationId xmlns:p14="http://schemas.microsoft.com/office/powerpoint/2010/main" val="793677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000680" y="447840"/>
            <a:ext cx="428580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 dirty="0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Evaluation Summary</a:t>
            </a:r>
            <a:endParaRPr lang="fr-FR" sz="3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ubTitle"/>
          </p:nvPr>
        </p:nvSpPr>
        <p:spPr>
          <a:xfrm>
            <a:off x="4309773" y="1779252"/>
            <a:ext cx="4428428" cy="2599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The model achieved strong overall performance across multiple evaluation metrics.</a:t>
            </a:r>
            <a:br>
              <a:rPr lang="en-US" sz="1200" dirty="0">
                <a:latin typeface="DM Sans" pitchFamily="2" charset="0"/>
              </a:rPr>
            </a:b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Key Results: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Accuracy: 95.81%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Macro F1-score: 94.42%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Balanced Accuracy: 93.96%</a:t>
            </a: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Weighted F1-score: 95.70%</a:t>
            </a:r>
            <a:br>
              <a:rPr lang="en-US" sz="1200" dirty="0">
                <a:latin typeface="DM Sans" pitchFamily="2" charset="0"/>
              </a:rPr>
            </a:br>
            <a:br>
              <a:rPr lang="en-US" sz="1200" dirty="0">
                <a:latin typeface="DM Sans" pitchFamily="2" charset="0"/>
              </a:rPr>
            </a:br>
            <a:r>
              <a:rPr lang="en-US" sz="1100" dirty="0">
                <a:latin typeface="DM Sans" pitchFamily="2" charset="0"/>
              </a:rPr>
              <a:t>These results were exported and visualized using Power BI for clearer analysis.</a:t>
            </a:r>
            <a:endParaRPr lang="en-US" sz="1100" b="0" u="none" strike="noStrike" dirty="0">
              <a:effectLst/>
              <a:uFillTx/>
              <a:latin typeface="DM Sans" pitchFamily="2" charset="0"/>
            </a:endParaRPr>
          </a:p>
        </p:txBody>
      </p:sp>
      <p:pic>
        <p:nvPicPr>
          <p:cNvPr id="61" name="Google Shape;240;p34"/>
          <p:cNvPicPr/>
          <p:nvPr/>
        </p:nvPicPr>
        <p:blipFill>
          <a:blip r:embed="rId2"/>
          <a:stretch/>
        </p:blipFill>
        <p:spPr>
          <a:xfrm>
            <a:off x="333360" y="366840"/>
            <a:ext cx="3528720" cy="4780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05AEE-531B-783B-795F-9800E0D6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39" y="171685"/>
            <a:ext cx="762336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Power BI Dashboard Overview</a:t>
            </a:r>
            <a:endParaRPr lang="en-US" sz="3000" b="1" dirty="0">
              <a:latin typeface="DM Serif Display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369AC-D1AA-14F3-0665-614E314A9D4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65430" y="4831263"/>
            <a:ext cx="7717320" cy="624473"/>
          </a:xfrm>
        </p:spPr>
        <p:txBody>
          <a:bodyPr/>
          <a:lstStyle/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Power BI transforms model outputs into clear visual insights.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0E30B-37D3-A4AA-4813-E7852FE41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732" y="744085"/>
            <a:ext cx="5995116" cy="4087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CD8361-28D8-C3EA-9A0C-9745AF99E6F5}"/>
              </a:ext>
            </a:extLst>
          </p:cNvPr>
          <p:cNvSpPr txBox="1"/>
          <p:nvPr/>
        </p:nvSpPr>
        <p:spPr>
          <a:xfrm>
            <a:off x="480135" y="1609861"/>
            <a:ext cx="26248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DM Sans" pitchFamily="2" charset="0"/>
              </a:rPr>
              <a:t>Dashboard includes:</a:t>
            </a:r>
          </a:p>
          <a:p>
            <a:endParaRPr lang="en-US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- Performance metrics</a:t>
            </a:r>
          </a:p>
          <a:p>
            <a:r>
              <a:rPr lang="en-US" dirty="0">
                <a:latin typeface="DM Sans" pitchFamily="2" charset="0"/>
              </a:rPr>
              <a:t>- Dataset distribution</a:t>
            </a:r>
          </a:p>
          <a:p>
            <a:r>
              <a:rPr lang="en-US" dirty="0">
                <a:latin typeface="DM Sans" pitchFamily="2" charset="0"/>
              </a:rPr>
              <a:t>- Class-level F1-score</a:t>
            </a:r>
          </a:p>
          <a:p>
            <a:r>
              <a:rPr lang="en-US" dirty="0">
                <a:latin typeface="DM Sans" pitchFamily="2" charset="0"/>
              </a:rPr>
              <a:t>- Model insights</a:t>
            </a:r>
          </a:p>
        </p:txBody>
      </p:sp>
    </p:spTree>
    <p:extLst>
      <p:ext uri="{BB962C8B-B14F-4D97-AF65-F5344CB8AC3E}">
        <p14:creationId xmlns:p14="http://schemas.microsoft.com/office/powerpoint/2010/main" val="3043333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F8F51-B9E1-659D-F644-020479A4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16" y="77889"/>
            <a:ext cx="762336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Class Performance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697C6-FE38-0019-0066-467A05D36E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022434" y="550880"/>
            <a:ext cx="7717320" cy="572400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>
                <a:latin typeface="DM Sans" pitchFamily="2" charset="0"/>
              </a:rPr>
              <a:t>Class-level analysis identifies strong and weak disease classes using F1-score, precision, and recall.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368B1-CD76-4C77-C960-46F8BC817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3870"/>
            <a:ext cx="9144000" cy="432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7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FA9A3-05F1-7081-F3E1-8E15FDB0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163" y="282062"/>
            <a:ext cx="5378547" cy="129276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Confusion Matrix Heatmap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8DAD4-E369-F82D-186D-44CC9CF74B9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42505" y="2257081"/>
            <a:ext cx="2083879" cy="4780800"/>
          </a:xfrm>
        </p:spPr>
        <p:txBody>
          <a:bodyPr>
            <a:normAutofit/>
          </a:bodyPr>
          <a:lstStyle/>
          <a:p>
            <a:r>
              <a:rPr lang="en-US" sz="1300" dirty="0">
                <a:latin typeface="DM Sans" pitchFamily="2" charset="0"/>
              </a:rPr>
              <a:t>Shows actual vs predicted classes.</a:t>
            </a:r>
          </a:p>
          <a:p>
            <a:endParaRPr lang="en-US" sz="13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Highlights misclassification between similar diseases.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A3D4D-30DF-D3C3-63D1-76F963ABF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4248"/>
            <a:ext cx="7353837" cy="431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817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B0F9-C5EB-7C9D-FF5A-E8C107601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865" y="193277"/>
            <a:ext cx="7796748" cy="572400"/>
          </a:xfrm>
        </p:spPr>
        <p:txBody>
          <a:bodyPr/>
          <a:lstStyle/>
          <a:p>
            <a:r>
              <a:rPr lang="en-US" sz="2800" dirty="0">
                <a:latin typeface="DM Serif Display" pitchFamily="2" charset="0"/>
              </a:rPr>
              <a:t>Web App: Plant Disease Detection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5D18A-8305-C3F1-8EAA-2E205C5A611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67106" y="1237925"/>
            <a:ext cx="3695541" cy="3405410"/>
          </a:xfrm>
        </p:spPr>
        <p:txBody>
          <a:bodyPr>
            <a:normAutofit/>
          </a:bodyPr>
          <a:lstStyle/>
          <a:p>
            <a:r>
              <a:rPr lang="en-US" sz="1300" dirty="0">
                <a:latin typeface="DM Sans" pitchFamily="2" charset="0"/>
              </a:rPr>
              <a:t>A web app was developed to test plant disease prediction.</a:t>
            </a:r>
          </a:p>
          <a:p>
            <a:endParaRPr lang="en-US" sz="13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Main features: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Upload plant leaf image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Use phone camera images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Predict the disease class</a:t>
            </a: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 - Simple interface for model testing</a:t>
            </a:r>
          </a:p>
          <a:p>
            <a:endParaRPr lang="en-US" sz="13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1300" dirty="0">
                <a:latin typeface="DM Sans" pitchFamily="2" charset="0"/>
              </a:rPr>
              <a:t>Web App Link: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DM Sans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Plant Disease Detection Web App</a:t>
            </a:r>
            <a:endParaRPr lang="en-US" sz="1300" dirty="0">
              <a:solidFill>
                <a:schemeClr val="accent6">
                  <a:lumMod val="75000"/>
                </a:schemeClr>
              </a:solidFill>
              <a:latin typeface="DM Sans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81533-9EA5-434C-1B1F-53E35D490D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657" y="804437"/>
            <a:ext cx="5681184" cy="427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7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32463-7BEA-959D-0353-6E7658181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968" y="68194"/>
            <a:ext cx="5129259" cy="572400"/>
          </a:xfrm>
          <a:effectLst>
            <a:reflection blurRad="6350" stA="52000" endA="300" endPos="35000" dir="5400000" sy="-100000" algn="bl" rotWithShape="0"/>
          </a:effectLst>
        </p:spPr>
        <p:txBody>
          <a:bodyPr/>
          <a:lstStyle/>
          <a:p>
            <a:r>
              <a:rPr lang="en-US" sz="2700" dirty="0">
                <a:latin typeface="DM Serif Display" pitchFamily="2" charset="0"/>
              </a:rPr>
              <a:t>Web App Real Phone Testing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ACB0C-4634-9113-CBC6-19A68502A47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410968" y="546538"/>
            <a:ext cx="5419214" cy="459696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US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6400" dirty="0">
                <a:latin typeface="DM Sans" pitchFamily="2" charset="0"/>
              </a:rPr>
              <a:t>The web app was tested using real plant leaf images from a mobile phone camera</a:t>
            </a:r>
          </a:p>
          <a:p>
            <a:pPr marL="0" indent="0">
              <a:buNone/>
            </a:pPr>
            <a:r>
              <a:rPr lang="en-US" sz="6800" dirty="0">
                <a:latin typeface="DM Sans" pitchFamily="2" charset="0"/>
              </a:rPr>
              <a:t> </a:t>
            </a:r>
            <a:r>
              <a:rPr lang="en-US" sz="5200" dirty="0">
                <a:latin typeface="DM Sans" pitchFamily="2" charset="0"/>
              </a:rPr>
              <a:t>Testing workflow: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Open the web app from mobile browser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Upload or capture a leaf image   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Display image preview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Predict plant type and disease class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Show health status: Healthy / Diseased</a:t>
            </a:r>
          </a:p>
          <a:p>
            <a:pPr marL="0" indent="0">
              <a:buNone/>
            </a:pPr>
            <a:endParaRPr lang="en-US" sz="4400" dirty="0"/>
          </a:p>
          <a:p>
            <a:pPr marL="0" indent="0">
              <a:buNone/>
            </a:pPr>
            <a:r>
              <a:rPr lang="en-US" sz="5200" dirty="0">
                <a:latin typeface="DM Sans" pitchFamily="2" charset="0"/>
              </a:rPr>
              <a:t>  Example results: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Grape — Healthy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Grape — Black rot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Apple — Healthy</a:t>
            </a:r>
          </a:p>
          <a:p>
            <a:pPr marL="0" indent="0">
              <a:buNone/>
            </a:pPr>
            <a:r>
              <a:rPr lang="en-US" sz="4400" dirty="0">
                <a:latin typeface="DM Sans" pitchFamily="2" charset="0"/>
              </a:rPr>
              <a:t>   • Apple — Cedar apple rust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4000" dirty="0">
                <a:latin typeface="DM Sans" pitchFamily="2" charset="0"/>
              </a:rPr>
              <a:t>This test demonstrates practical mobile usability of the web app.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E5388-285D-2F80-0C23-D54F76CB51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673" y="2209235"/>
            <a:ext cx="2274693" cy="21761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03258A-8831-3967-7D3B-809F75BF3F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6" y="201884"/>
            <a:ext cx="1583363" cy="23698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1C37C6-3079-BDA3-6A07-6CDB5DCBEF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12" y="201884"/>
            <a:ext cx="1583363" cy="2369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05A212-B133-2CD5-687E-D9E5528EAC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661" y="2656632"/>
            <a:ext cx="1583363" cy="24111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609B92-4CB3-F6F6-B0D9-811C723E3CC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6" y="2656632"/>
            <a:ext cx="1583363" cy="241112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3227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E8A186-2879-C159-EECA-44961798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937" y="684882"/>
            <a:ext cx="4732984" cy="689020"/>
          </a:xfrm>
        </p:spPr>
        <p:txBody>
          <a:bodyPr/>
          <a:lstStyle/>
          <a:p>
            <a:r>
              <a:rPr lang="en-US" sz="2800" dirty="0">
                <a:latin typeface="DM Serif Display" pitchFamily="2" charset="0"/>
              </a:rPr>
              <a:t>Challenges &amp; Future 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D9304-3950-6DDD-414F-75B3BB98879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18407" y="1285795"/>
            <a:ext cx="4407343" cy="4224270"/>
          </a:xfrm>
        </p:spPr>
        <p:txBody>
          <a:bodyPr>
            <a:normAutofit/>
          </a:bodyPr>
          <a:lstStyle/>
          <a:p>
            <a:r>
              <a:rPr lang="en-US" sz="1300" dirty="0">
                <a:latin typeface="DM Sans" pitchFamily="2" charset="0"/>
              </a:rPr>
              <a:t>Challenges:</a:t>
            </a:r>
          </a:p>
          <a:p>
            <a:r>
              <a:rPr lang="en-US" sz="1300" dirty="0">
                <a:latin typeface="DM Sans" pitchFamily="2" charset="0"/>
              </a:rPr>
              <a:t>- Class imbalance</a:t>
            </a:r>
          </a:p>
          <a:p>
            <a:r>
              <a:rPr lang="en-US" sz="1300" dirty="0">
                <a:latin typeface="DM Sans" pitchFamily="2" charset="0"/>
              </a:rPr>
              <a:t>- Similar disease symptoms</a:t>
            </a:r>
          </a:p>
          <a:p>
            <a:r>
              <a:rPr lang="en-US" sz="1300" dirty="0">
                <a:latin typeface="DM Sans" pitchFamily="2" charset="0"/>
              </a:rPr>
              <a:t>- Large dataset size</a:t>
            </a:r>
          </a:p>
          <a:p>
            <a:r>
              <a:rPr lang="en-US" sz="1300" dirty="0">
                <a:latin typeface="DM Sans" pitchFamily="2" charset="0"/>
              </a:rPr>
              <a:t>- Google </a:t>
            </a:r>
            <a:r>
              <a:rPr lang="en-US" sz="1300" dirty="0" err="1">
                <a:latin typeface="DM Sans" pitchFamily="2" charset="0"/>
              </a:rPr>
              <a:t>Colab</a:t>
            </a:r>
            <a:r>
              <a:rPr lang="en-US" sz="1300" dirty="0">
                <a:latin typeface="DM Sans" pitchFamily="2" charset="0"/>
              </a:rPr>
              <a:t> runtime limits</a:t>
            </a:r>
          </a:p>
          <a:p>
            <a:endParaRPr lang="en-US" sz="13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Implemented Extension:</a:t>
            </a:r>
          </a:p>
          <a:p>
            <a:r>
              <a:rPr lang="en-US" sz="1300" dirty="0">
                <a:latin typeface="DM Sans" pitchFamily="2" charset="0"/>
              </a:rPr>
              <a:t>- Web app for plant disease prediction</a:t>
            </a:r>
          </a:p>
          <a:p>
            <a:r>
              <a:rPr lang="en-US" sz="1300" dirty="0">
                <a:latin typeface="DM Sans" pitchFamily="2" charset="0"/>
              </a:rPr>
              <a:t>- Image upload and phone camera testing</a:t>
            </a:r>
          </a:p>
          <a:p>
            <a:r>
              <a:rPr lang="en-US" sz="1300" dirty="0">
                <a:latin typeface="DM Sans" pitchFamily="2" charset="0"/>
              </a:rPr>
              <a:t>- Predicted disease class output</a:t>
            </a:r>
          </a:p>
          <a:p>
            <a:endParaRPr lang="en-US" sz="13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Future Work:</a:t>
            </a:r>
          </a:p>
          <a:p>
            <a:r>
              <a:rPr lang="en-US" sz="1300" dirty="0">
                <a:latin typeface="DM Sans" pitchFamily="2" charset="0"/>
              </a:rPr>
              <a:t>- Convert the system into a full mobile application</a:t>
            </a:r>
          </a:p>
          <a:p>
            <a:r>
              <a:rPr lang="en-US" sz="1300" dirty="0">
                <a:latin typeface="DM Sans" pitchFamily="2" charset="0"/>
              </a:rPr>
              <a:t>- Increase dataset diversity</a:t>
            </a:r>
          </a:p>
          <a:p>
            <a:r>
              <a:rPr lang="en-US" sz="1300" dirty="0">
                <a:latin typeface="DM Sans" pitchFamily="2" charset="0"/>
              </a:rPr>
              <a:t>- Add treatment recommendations</a:t>
            </a:r>
          </a:p>
          <a:p>
            <a:r>
              <a:rPr lang="en-US" sz="1300" dirty="0">
                <a:latin typeface="DM Sans" pitchFamily="2" charset="0"/>
              </a:rPr>
              <a:t>- Improve model performance on real-world images</a:t>
            </a:r>
          </a:p>
        </p:txBody>
      </p:sp>
    </p:spTree>
    <p:extLst>
      <p:ext uri="{BB962C8B-B14F-4D97-AF65-F5344CB8AC3E}">
        <p14:creationId xmlns:p14="http://schemas.microsoft.com/office/powerpoint/2010/main" val="675934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14240" y="447840"/>
            <a:ext cx="76197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0" u="none" strike="noStrike">
                <a:solidFill>
                  <a:schemeClr val="dk1"/>
                </a:solidFill>
                <a:effectLst/>
                <a:uFillTx/>
                <a:latin typeface="DM Serif Display"/>
                <a:ea typeface="DM Serif Display"/>
              </a:rPr>
              <a:t>Conclusions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714240" y="1285920"/>
            <a:ext cx="7714800" cy="30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700" dirty="0">
                <a:latin typeface="DM Sans" pitchFamily="2" charset="0"/>
              </a:rPr>
              <a:t>The project combines deep learning image classification with Business Intelligence reporting</a:t>
            </a:r>
            <a:r>
              <a:rPr lang="en-US" sz="1400" dirty="0">
                <a:latin typeface="DM Sans" pitchFamily="2" charset="0"/>
              </a:rPr>
              <a:t>.</a:t>
            </a:r>
            <a:br>
              <a:rPr lang="en-US" sz="1400" dirty="0">
                <a:latin typeface="DM Sans" pitchFamily="2" charset="0"/>
              </a:rPr>
            </a:br>
            <a:br>
              <a:rPr lang="en-US" sz="1400" dirty="0">
                <a:latin typeface="DM Sans" pitchFamily="2" charset="0"/>
              </a:rPr>
            </a:br>
            <a:r>
              <a:rPr lang="en-US" sz="1500" b="1" dirty="0">
                <a:latin typeface="DM Sans" pitchFamily="2" charset="0"/>
              </a:rPr>
              <a:t>Key outcomes: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</a:t>
            </a:r>
            <a:r>
              <a:rPr lang="en-US" sz="1400" dirty="0" err="1">
                <a:latin typeface="DM Sans" pitchFamily="2" charset="0"/>
              </a:rPr>
              <a:t>EfficientNetB</a:t>
            </a:r>
            <a:r>
              <a:rPr lang="ar-SA" sz="1400" dirty="0">
                <a:latin typeface="DM Sans" pitchFamily="2" charset="0"/>
              </a:rPr>
              <a:t>0</a:t>
            </a:r>
            <a:r>
              <a:rPr lang="en-US" sz="1400" dirty="0">
                <a:latin typeface="DM Sans" pitchFamily="2" charset="0"/>
              </a:rPr>
              <a:t> achieved strong classification performance.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Power BI visualized model metrics and class-level results.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A web app was developed for plant disease prediction testing.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dirty="0">
              <a:latin typeface="DM Sans" pitchFamily="2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dirty="0">
                <a:latin typeface="DM Sans" pitchFamily="2" charset="0"/>
              </a:rPr>
              <a:t>• The system supports clearer plant disease analysis and decision-making.</a:t>
            </a:r>
            <a:br>
              <a:rPr lang="en-US" sz="1400" dirty="0">
                <a:latin typeface="DM Sans" pitchFamily="2" charset="0"/>
              </a:rPr>
            </a:br>
            <a:br>
              <a:rPr lang="en-US" sz="1200" dirty="0">
                <a:latin typeface="DM Sans" pitchFamily="2" charset="0"/>
              </a:rPr>
            </a:br>
            <a:r>
              <a:rPr lang="en-US" sz="1200" dirty="0">
                <a:latin typeface="DM Sans" pitchFamily="2" charset="0"/>
              </a:rPr>
              <a:t>Project files are available in the GitHub repository.</a:t>
            </a:r>
            <a:endParaRPr lang="fr-FR" sz="1200" b="0" u="none" strike="noStrike" dirty="0">
              <a:solidFill>
                <a:srgbClr val="000000"/>
              </a:solidFill>
              <a:effectLst/>
              <a:uFillTx/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EBDF-39BC-4A06-342F-B9560BB9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519" y="174217"/>
            <a:ext cx="4284720" cy="572400"/>
          </a:xfrm>
        </p:spPr>
        <p:txBody>
          <a:bodyPr/>
          <a:lstStyle/>
          <a:p>
            <a:r>
              <a:rPr lang="en-US" sz="3000" dirty="0">
                <a:latin typeface="DM Serif Display" pitchFamily="2" charset="0"/>
              </a:rPr>
              <a:t>GitHub Repository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6130E-CFF3-D42D-175F-668B16C41E7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99927" y="480565"/>
            <a:ext cx="5069328" cy="2949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</a:t>
            </a:r>
            <a:r>
              <a:rPr lang="en-US" sz="2000" b="1" dirty="0">
                <a:latin typeface="DM Sans" pitchFamily="2" charset="0"/>
              </a:rPr>
              <a:t>Project Repository</a:t>
            </a:r>
          </a:p>
          <a:p>
            <a:pPr marL="0" indent="0">
              <a:buNone/>
            </a:pPr>
            <a:endParaRPr lang="en-US" sz="1400" dirty="0">
              <a:latin typeface="DM Sans" pitchFamily="2" charset="0"/>
            </a:endParaRPr>
          </a:p>
          <a:p>
            <a:pPr marL="0" indent="0">
              <a:buNone/>
            </a:pPr>
            <a:r>
              <a:rPr lang="en-US" sz="1600" dirty="0">
                <a:latin typeface="DM Sans" pitchFamily="2" charset="0"/>
              </a:rPr>
              <a:t>The GitHub repository includes:</a:t>
            </a:r>
          </a:p>
          <a:p>
            <a:pPr marL="342900" indent="-342900">
              <a:buFont typeface="+mj-lt"/>
              <a:buAutoNum type="arabicPeriod"/>
            </a:pPr>
            <a:endParaRPr lang="ar-SA" sz="1400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ar-SA" sz="1400" dirty="0">
                <a:latin typeface="DM Sans" pitchFamily="2" charset="0"/>
              </a:rPr>
              <a:t>  </a:t>
            </a:r>
            <a:r>
              <a:rPr lang="en-US" sz="1400" dirty="0">
                <a:latin typeface="DM Sans" pitchFamily="2" charset="0"/>
              </a:rPr>
              <a:t>Project documentation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Notebook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Power BI dashboard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Model evaluation results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Dashboard screenshots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Dataset link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Web app link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latin typeface="DM Sans" pitchFamily="2" charset="0"/>
              </a:rPr>
              <a:t>  Presentation and submission links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24D22-D0C5-9A95-8C3C-F06B6DD28C2F}"/>
              </a:ext>
            </a:extLst>
          </p:cNvPr>
          <p:cNvSpPr txBox="1"/>
          <p:nvPr/>
        </p:nvSpPr>
        <p:spPr>
          <a:xfrm>
            <a:off x="129790" y="4684748"/>
            <a:ext cx="62979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DM Serif Display" pitchFamily="2" charset="0"/>
              </a:rPr>
              <a:t>github.com/nadakhattab33-code/BI-Plant-Disease-Analysis-and-Prediction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55F095-9991-A4D7-5A93-F743C5DE44FE}"/>
              </a:ext>
            </a:extLst>
          </p:cNvPr>
          <p:cNvSpPr txBox="1"/>
          <p:nvPr/>
        </p:nvSpPr>
        <p:spPr>
          <a:xfrm>
            <a:off x="1261567" y="4379707"/>
            <a:ext cx="32409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DM Sans" pitchFamily="2" charset="0"/>
              </a:rPr>
              <a:t>GitHub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8FDFA-C5B9-7A29-2C96-E33B187968BD}"/>
              </a:ext>
            </a:extLst>
          </p:cNvPr>
          <p:cNvSpPr txBox="1"/>
          <p:nvPr/>
        </p:nvSpPr>
        <p:spPr>
          <a:xfrm>
            <a:off x="1261567" y="3598197"/>
            <a:ext cx="20172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DM Sans" pitchFamily="2" charset="0"/>
              </a:rPr>
              <a:t>Web 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8BEF0-92DE-2982-A2B7-97A052ACB3B8}"/>
              </a:ext>
            </a:extLst>
          </p:cNvPr>
          <p:cNvSpPr txBox="1"/>
          <p:nvPr/>
        </p:nvSpPr>
        <p:spPr>
          <a:xfrm>
            <a:off x="826714" y="3858147"/>
            <a:ext cx="30258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75000"/>
                  </a:schemeClr>
                </a:solidFill>
                <a:latin typeface="DM Serif Display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https://plants-beta-ten.vercel.app/</a:t>
            </a:r>
            <a:endParaRPr lang="en-US" sz="1100" b="1" dirty="0">
              <a:solidFill>
                <a:schemeClr val="accent6">
                  <a:lumMod val="75000"/>
                </a:schemeClr>
              </a:solidFill>
              <a:latin typeface="DM Serif Displ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627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EAC4-8D49-3A67-3211-601EAD5A4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699" y="363596"/>
            <a:ext cx="5139371" cy="1157879"/>
          </a:xfrm>
        </p:spPr>
        <p:txBody>
          <a:bodyPr/>
          <a:lstStyle/>
          <a:p>
            <a:r>
              <a:rPr lang="en" sz="5000" dirty="0">
                <a:solidFill>
                  <a:schemeClr val="dk1"/>
                </a:solidFill>
                <a:latin typeface="DM Serif Display"/>
                <a:ea typeface="DM Serif Display"/>
              </a:rPr>
              <a:t>Thanks!</a:t>
            </a:r>
            <a:endParaRPr lang="en-US" sz="5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EEC8C-0F6B-C65E-B96F-8E1166DAE30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927839" y="282029"/>
            <a:ext cx="3528720" cy="460446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Google Shape;433;p50">
            <a:extLst>
              <a:ext uri="{FF2B5EF4-FFF2-40B4-BE49-F238E27FC236}">
                <a16:creationId xmlns:a16="http://schemas.microsoft.com/office/drawing/2014/main" id="{00051299-065A-55FC-0BB9-88FC738E93FC}"/>
              </a:ext>
            </a:extLst>
          </p:cNvPr>
          <p:cNvPicPr/>
          <p:nvPr/>
        </p:nvPicPr>
        <p:blipFill>
          <a:blip r:embed="rId2"/>
          <a:srcRect t="3413" b="6285"/>
          <a:stretch/>
        </p:blipFill>
        <p:spPr>
          <a:xfrm flipH="1">
            <a:off x="4901409" y="211015"/>
            <a:ext cx="3598723" cy="477219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960399-E654-75C3-FDFE-18871C331125}"/>
              </a:ext>
            </a:extLst>
          </p:cNvPr>
          <p:cNvSpPr txBox="1"/>
          <p:nvPr/>
        </p:nvSpPr>
        <p:spPr>
          <a:xfrm>
            <a:off x="534770" y="1937930"/>
            <a:ext cx="4037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dirty="0">
                <a:latin typeface="DM Sans" pitchFamily="2" charset="0"/>
              </a:rPr>
              <a:t>Questions?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Prepared by: Nada Ahmed Khattab</a:t>
            </a:r>
          </a:p>
        </p:txBody>
      </p:sp>
    </p:spTree>
    <p:extLst>
      <p:ext uri="{BB962C8B-B14F-4D97-AF65-F5344CB8AC3E}">
        <p14:creationId xmlns:p14="http://schemas.microsoft.com/office/powerpoint/2010/main" val="199207035"/>
      </p:ext>
    </p:extLst>
  </p:cSld>
  <p:clrMapOvr>
    <a:masterClrMapping/>
  </p:clrMapOvr>
</p:sld>
</file>

<file path=ppt/theme/theme1.xml><?xml version="1.0" encoding="utf-8"?>
<a:theme xmlns:a="http://schemas.openxmlformats.org/drawingml/2006/main" name="Sage Green Palette Portfolio by Slidesgo">
  <a:themeElements>
    <a:clrScheme name="Simple Light">
      <a:dk1>
        <a:srgbClr val="FFFFFF"/>
      </a:dk1>
      <a:lt1>
        <a:srgbClr val="485A4E"/>
      </a:lt1>
      <a:dk2>
        <a:srgbClr val="39734D"/>
      </a:dk2>
      <a:lt2>
        <a:srgbClr val="53A66F"/>
      </a:lt2>
      <a:accent1>
        <a:srgbClr val="85A690"/>
      </a:accent1>
      <a:accent2>
        <a:srgbClr val="C2F2D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age Green Palette Portfolio by Slidesgo">
  <a:themeElements>
    <a:clrScheme name="Simple Light">
      <a:dk1>
        <a:srgbClr val="FFFFFF"/>
      </a:dk1>
      <a:lt1>
        <a:srgbClr val="485A4E"/>
      </a:lt1>
      <a:dk2>
        <a:srgbClr val="39734D"/>
      </a:dk2>
      <a:lt2>
        <a:srgbClr val="53A66F"/>
      </a:lt2>
      <a:accent1>
        <a:srgbClr val="85A690"/>
      </a:accent1>
      <a:accent2>
        <a:srgbClr val="C2F2D2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656</TotalTime>
  <Words>961</Words>
  <Application>Microsoft Office PowerPoint</Application>
  <PresentationFormat>On-screen Show (16:9)</PresentationFormat>
  <Paragraphs>193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DM Sans</vt:lpstr>
      <vt:lpstr>DM Serif Display</vt:lpstr>
      <vt:lpstr>OpenSymbol</vt:lpstr>
      <vt:lpstr>Symbol</vt:lpstr>
      <vt:lpstr>Wingdings</vt:lpstr>
      <vt:lpstr>Sage Green Palette Portfolio by Slidesgo</vt:lpstr>
      <vt:lpstr>Sage Green Palette Portfolio by Slidesgo</vt:lpstr>
      <vt:lpstr>Plant Disease BI System</vt:lpstr>
      <vt:lpstr>Introduction</vt:lpstr>
      <vt:lpstr>Project Overview</vt:lpstr>
      <vt:lpstr>Problem Statement</vt:lpstr>
      <vt:lpstr>Dataset Samples</vt:lpstr>
      <vt:lpstr>PowerPoint Presentation</vt:lpstr>
      <vt:lpstr>PowerPoint Presentation</vt:lpstr>
      <vt:lpstr>PowerPoint Presentation</vt:lpstr>
      <vt:lpstr>Dataset &amp; Quality</vt:lpstr>
      <vt:lpstr>Duplicate Check &amp; Data Leakage Prevention</vt:lpstr>
      <vt:lpstr>PowerPoint Presentation</vt:lpstr>
      <vt:lpstr>Model Evaluation Results</vt:lpstr>
      <vt:lpstr>Evaluation Summary</vt:lpstr>
      <vt:lpstr>Power BI Dashboard Overview</vt:lpstr>
      <vt:lpstr>Class Performance Analysis</vt:lpstr>
      <vt:lpstr>Confusion Matrix Heatmap</vt:lpstr>
      <vt:lpstr>Web App: Plant Disease Detection</vt:lpstr>
      <vt:lpstr>Web App Real Phone Testing </vt:lpstr>
      <vt:lpstr>Challenges &amp; Future Work</vt:lpstr>
      <vt:lpstr>Conclusions</vt:lpstr>
      <vt:lpstr>GitHub Repository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Nada Ahmed</dc:creator>
  <cp:lastModifiedBy>ندى احمد حمدان خطاب</cp:lastModifiedBy>
  <cp:revision>9</cp:revision>
  <dcterms:modified xsi:type="dcterms:W3CDTF">2026-06-09T00:35:48Z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2026-05-16T21:10:53Z</dcterms:created>
  <dc:creator>Unknown Creator</dc:creator>
  <dc:description/>
  <dc:language>en-US</dc:language>
  <cp:lastModifiedBy>Unknown Creator</cp:lastModifiedBy>
  <dcterms:modified xsi:type="dcterms:W3CDTF">2026-05-16T21:10:53Z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