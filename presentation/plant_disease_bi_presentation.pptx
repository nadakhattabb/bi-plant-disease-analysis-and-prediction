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4"/>
  </p:notesMasterIdLst>
  <p:sldIdLst>
    <p:sldId id="256" r:id="rId3"/>
    <p:sldId id="257" r:id="rId4"/>
    <p:sldId id="258" r:id="rId5"/>
    <p:sldId id="259" r:id="rId6"/>
    <p:sldId id="271" r:id="rId7"/>
    <p:sldId id="260" r:id="rId8"/>
    <p:sldId id="261" r:id="rId9"/>
    <p:sldId id="262" r:id="rId10"/>
    <p:sldId id="263" r:id="rId11"/>
    <p:sldId id="272" r:id="rId12"/>
    <p:sldId id="264" r:id="rId13"/>
    <p:sldId id="270" r:id="rId14"/>
    <p:sldId id="265" r:id="rId15"/>
    <p:sldId id="273" r:id="rId16"/>
    <p:sldId id="274" r:id="rId17"/>
    <p:sldId id="276" r:id="rId18"/>
    <p:sldId id="279" r:id="rId19"/>
    <p:sldId id="278" r:id="rId20"/>
    <p:sldId id="266" r:id="rId21"/>
    <p:sldId id="277" r:id="rId2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5FD6"/>
    <a:srgbClr val="6F4827"/>
    <a:srgbClr val="996633"/>
    <a:srgbClr val="663300"/>
    <a:srgbClr val="485A4E"/>
    <a:srgbClr val="5C9700"/>
    <a:srgbClr val="66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56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18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E5C28-B191-4258-9BE8-07FC0727E60E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9E90E8-4A07-42D4-8226-01E961305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39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018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2983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79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;p2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3" name="Google Shape;10;p2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4" name="Google Shape;11;p2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5" name="Google Shape;12;p2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84560" y="1080000"/>
            <a:ext cx="4649400" cy="2216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7;p3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17" name="Google Shape;18;p3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8" name="Google Shape;19;p3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9" name="Google Shape;20;p3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14520" y="2648880"/>
            <a:ext cx="4544280" cy="177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13160" y="1540440"/>
            <a:ext cx="1288440" cy="11077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178;p25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24" name="Google Shape;179;p25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5" name="Google Shape;180;p25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6" name="Google Shape;181;p25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424332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28588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" name="Google Shape;185;p25"/>
          <p:cNvSpPr/>
          <p:nvPr/>
        </p:nvSpPr>
        <p:spPr>
          <a:xfrm>
            <a:off x="713160" y="3566520"/>
            <a:ext cx="3582000" cy="64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, and includes,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003920" y="448200"/>
            <a:ext cx="42847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0" name="Google Shape;105;p16"/>
          <p:cNvCxnSpPr/>
          <p:nvPr/>
        </p:nvCxnSpPr>
        <p:spPr>
          <a:xfrm>
            <a:off x="8818560" y="-29880"/>
            <a:ext cx="360" cy="520344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6233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13160" y="1281600"/>
            <a:ext cx="7717320" cy="3084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3" name="Google Shape;121;p19"/>
          <p:cNvGrpSpPr/>
          <p:nvPr/>
        </p:nvGrpSpPr>
        <p:grpSpPr>
          <a:xfrm>
            <a:off x="329040" y="-29880"/>
            <a:ext cx="8489520" cy="5203080"/>
            <a:chOff x="329040" y="-29880"/>
            <a:chExt cx="8489520" cy="5203080"/>
          </a:xfrm>
        </p:grpSpPr>
        <p:cxnSp>
          <p:nvCxnSpPr>
            <p:cNvPr id="14" name="Google Shape;122;p19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5" name="Google Shape;123;p19"/>
            <p:cNvCxnSpPr/>
            <p:nvPr/>
          </p:nvCxnSpPr>
          <p:spPr>
            <a:xfrm>
              <a:off x="881856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1" name="Google Shape;27;p4"/>
          <p:cNvGrpSpPr/>
          <p:nvPr/>
        </p:nvGrpSpPr>
        <p:grpSpPr>
          <a:xfrm>
            <a:off x="329040" y="-29880"/>
            <a:ext cx="8485560" cy="5203080"/>
            <a:chOff x="329040" y="-29880"/>
            <a:chExt cx="8485560" cy="5203080"/>
          </a:xfrm>
        </p:grpSpPr>
        <p:cxnSp>
          <p:nvCxnSpPr>
            <p:cNvPr id="32" name="Google Shape;28;p4"/>
            <p:cNvCxnSpPr/>
            <p:nvPr/>
          </p:nvCxnSpPr>
          <p:spPr>
            <a:xfrm>
              <a:off x="881460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33" name="Google Shape;29;p4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85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204;p31"/>
          <p:cNvSpPr/>
          <p:nvPr/>
        </p:nvSpPr>
        <p:spPr>
          <a:xfrm>
            <a:off x="5286240" y="361800"/>
            <a:ext cx="3524040" cy="4781160"/>
          </a:xfrm>
          <a:prstGeom prst="rect">
            <a:avLst/>
          </a:prstGeom>
          <a:solidFill>
            <a:srgbClr val="485A4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2390760" rIns="870823080" bIns="2390760" anchor="ctr">
            <a:normAutofit fontScale="250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7283" y="1588737"/>
            <a:ext cx="4647960" cy="94180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fr-FR" sz="2800" b="1" dirty="0">
                <a:solidFill>
                  <a:schemeClr val="dk1"/>
                </a:solidFill>
              </a:rPr>
              <a:t>Plant </a:t>
            </a:r>
            <a:r>
              <a:rPr lang="fr-FR" sz="2800" b="1" dirty="0" err="1">
                <a:solidFill>
                  <a:schemeClr val="dk1"/>
                </a:solidFill>
              </a:rPr>
              <a:t>Disease</a:t>
            </a:r>
            <a:r>
              <a:rPr lang="fr-FR" sz="2800" b="1" dirty="0">
                <a:solidFill>
                  <a:schemeClr val="dk1"/>
                </a:solidFill>
              </a:rPr>
              <a:t> BI System</a:t>
            </a:r>
            <a:endParaRPr lang="fr-FR" sz="2800" b="1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ubTitle"/>
          </p:nvPr>
        </p:nvSpPr>
        <p:spPr>
          <a:xfrm>
            <a:off x="593299" y="2530544"/>
            <a:ext cx="4291965" cy="6188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400" dirty="0">
                <a:solidFill>
                  <a:srgbClr val="FFFFFF"/>
                </a:solidFill>
                <a:latin typeface="OpenSymbol"/>
              </a:rPr>
              <a:t>EfficientNetB0 Transfer Learning | Power BI Analytics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8" name="Google Shape;207;p31"/>
          <p:cNvPicPr/>
          <p:nvPr/>
        </p:nvPicPr>
        <p:blipFill>
          <a:blip r:embed="rId2"/>
          <a:stretch/>
        </p:blipFill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417FED-D438-E27E-D1B5-1309082CF85B}"/>
              </a:ext>
            </a:extLst>
          </p:cNvPr>
          <p:cNvSpPr txBox="1"/>
          <p:nvPr/>
        </p:nvSpPr>
        <p:spPr>
          <a:xfrm>
            <a:off x="507283" y="4045483"/>
            <a:ext cx="37117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Prepared by: Nada Ahmed Khattab</a:t>
            </a:r>
          </a:p>
          <a:p>
            <a:r>
              <a:rPr lang="en-US" sz="1000" dirty="0"/>
              <a:t>Supervisor: Husam Barham</a:t>
            </a:r>
          </a:p>
          <a:p>
            <a:r>
              <a:rPr lang="en-US" sz="1000" dirty="0"/>
              <a:t>University of Petra | Business Intelligence</a:t>
            </a:r>
          </a:p>
          <a:p>
            <a:r>
              <a:rPr lang="en-US" sz="1000" dirty="0"/>
              <a:t>Submission Date: 1 / 6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000680" y="239815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Introduction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ubTitle"/>
          </p:nvPr>
        </p:nvSpPr>
        <p:spPr>
          <a:xfrm>
            <a:off x="4206285" y="811135"/>
            <a:ext cx="4285800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Plants are essential for food security, agriculture, and human life.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cause major losses if they are not detected early.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The idea of this project came from the need to analyze plant leaf </a:t>
            </a:r>
            <a:r>
              <a:rPr lang="en-US" sz="1300" b="1" dirty="0">
                <a:solidFill>
                  <a:schemeClr val="dk1"/>
                </a:solidFill>
                <a:latin typeface="DM Sans"/>
                <a:ea typeface="DM Sans"/>
              </a:rPr>
              <a:t>images</a:t>
            </a:r>
            <a:r>
              <a:rPr lang="en-US" sz="1400" dirty="0">
                <a:solidFill>
                  <a:schemeClr val="dk1"/>
                </a:solidFill>
                <a:latin typeface="DM Sans"/>
                <a:ea typeface="DM Sans"/>
              </a:rPr>
              <a:t> </a:t>
            </a: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using AI.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The project focuses on image analysis, where plant leaf </a:t>
            </a:r>
            <a:r>
              <a:rPr lang="en-US" sz="1200" b="1" dirty="0">
                <a:solidFill>
                  <a:schemeClr val="dk1"/>
                </a:solidFill>
                <a:latin typeface="DM Sans"/>
                <a:ea typeface="DM Sans"/>
              </a:rPr>
              <a:t>images </a:t>
            </a: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are classified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The results are then visualized using Power BI dashboards to make the analysis easier to understand.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88D959-6BFE-C3E6-9D53-610B5928BF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5587" y="0"/>
            <a:ext cx="4116267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647800"/>
            <a:ext cx="4543200" cy="178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Project Overview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title"/>
          </p:nvPr>
        </p:nvSpPr>
        <p:spPr>
          <a:xfrm>
            <a:off x="714240" y="-3022200"/>
            <a:ext cx="1285560" cy="56696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erif Display"/>
              </a:rPr>
              <a:t>01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4" name="Google Shape;258;p36"/>
          <p:cNvPicPr/>
          <p:nvPr/>
        </p:nvPicPr>
        <p:blipFill>
          <a:blip r:embed="rId2"/>
          <a:stretch/>
        </p:blipFill>
        <p:spPr>
          <a:xfrm flipH="1"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  <a:ea typeface="DM Serif Display"/>
              </a:rPr>
              <a:t>Problem Statement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affect food security.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  <a:ea typeface="DM Sans"/>
              </a:rPr>
              <a:t>Manual diagnosis is slow, depends on expert knowledge, and may be error-prone.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5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  <a:ea typeface="DM Sans"/>
              </a:rPr>
              <a:t>This project supports faster plant disease analysis by using image classification and BI dashboards.</a:t>
            </a:r>
            <a:endParaRPr lang="fr-F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737AB-EDFC-E322-FACE-2C2B0BCCC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07764"/>
            <a:ext cx="7703640" cy="572400"/>
          </a:xfrm>
        </p:spPr>
        <p:txBody>
          <a:bodyPr/>
          <a:lstStyle/>
          <a:p>
            <a:pPr algn="ctr"/>
            <a:r>
              <a:rPr lang="en-US" dirty="0"/>
              <a:t>Dataset 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A05517-1740-4DC1-912E-2DC6AB1E6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1"/>
          <a:stretch>
            <a:fillRect/>
          </a:stretch>
        </p:blipFill>
        <p:spPr>
          <a:xfrm>
            <a:off x="1255689" y="825954"/>
            <a:ext cx="6782485" cy="3359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EFC4B-9D72-6B44-25B8-581D094846F6}"/>
              </a:ext>
            </a:extLst>
          </p:cNvPr>
          <p:cNvSpPr txBox="1"/>
          <p:nvPr/>
        </p:nvSpPr>
        <p:spPr>
          <a:xfrm>
            <a:off x="555807" y="4450458"/>
            <a:ext cx="826355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dataset includes healthy and diseased plant leaf images from multiple plant types such as tomato, potato, apple, corn, grape, orange, and others.</a:t>
            </a:r>
          </a:p>
        </p:txBody>
      </p:sp>
    </p:spTree>
    <p:extLst>
      <p:ext uri="{BB962C8B-B14F-4D97-AF65-F5344CB8AC3E}">
        <p14:creationId xmlns:p14="http://schemas.microsoft.com/office/powerpoint/2010/main" val="1259726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/>
          <p:cNvSpPr/>
          <p:nvPr/>
        </p:nvSpPr>
        <p:spPr>
          <a:xfrm>
            <a:off x="362160" y="360789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</a:rPr>
              <a:t>Objectives 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49226" y="1020814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</a:t>
            </a:r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Classify plant leaf images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• Predict the exact plant disease class.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• Evaluate the model using accuracy, precision, recall, and F1-score.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• Visualize model results using Power BI dashboards.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• Support decision-making through clear BI insights.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pic>
        <p:nvPicPr>
          <p:cNvPr id="49" name="image6a08dd5e622a6" descr="image6a08dd5e622aa"/>
          <p:cNvPicPr/>
          <p:nvPr/>
        </p:nvPicPr>
        <p:blipFill>
          <a:blip r:embed="rId2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</a:rPr>
              <a:t>System Block Diagram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37487" y="1042084"/>
            <a:ext cx="8191080" cy="362513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Dataset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Preprocessing &amp; Augmentation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EfficientNetB0 AI Model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Evaluation Results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Power BI Dashboard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500" dirty="0">
                <a:solidFill>
                  <a:schemeClr val="dk1"/>
                </a:solidFill>
                <a:latin typeface="DM Sans"/>
              </a:rPr>
              <a:t>Decision Support</a:t>
            </a:r>
            <a:endParaRPr lang="en-US" sz="15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DM Serif Display"/>
              </a:rPr>
              <a:t>Model &amp; Results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54" name="image6a08dd5e6d5c9" descr="image6a08dd5e6d5cc"/>
          <p:cNvPicPr/>
          <p:nvPr/>
        </p:nvPicPr>
        <p:blipFill>
          <a:blip r:embed="rId2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14600" y="273817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Dataset &amp; Quality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714600" y="1176449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Dataset contains 38 classes: 34,765 training images, 8,691 validation images, and 10,845 test images.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 quality check showed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corrupted images. Four duplicate test images were found and removed, resulting in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final duplicates.</a:t>
            </a:r>
            <a:endParaRPr lang="fr-FR" sz="1400" b="0" u="none" strike="noStrike" dirty="0">
              <a:effectLst/>
              <a:uFillTx/>
              <a:latin typeface="DM Sans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4FB4AF-1880-6AAF-0329-59269446DB2B}"/>
              </a:ext>
            </a:extLst>
          </p:cNvPr>
          <p:cNvSpPr/>
          <p:nvPr/>
        </p:nvSpPr>
        <p:spPr>
          <a:xfrm>
            <a:off x="985235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38 </a:t>
            </a:r>
            <a:r>
              <a:rPr lang="en-US" sz="1600" dirty="0">
                <a:latin typeface="DM Sans" pitchFamily="2" charset="0"/>
              </a:rPr>
              <a:t>Classes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3E5AAE-5118-52E5-DD34-11B120BA87D1}"/>
              </a:ext>
            </a:extLst>
          </p:cNvPr>
          <p:cNvSpPr/>
          <p:nvPr/>
        </p:nvSpPr>
        <p:spPr>
          <a:xfrm>
            <a:off x="5984448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115662-71F0-A2D4-5CAE-D5656CA444CD}"/>
              </a:ext>
            </a:extLst>
          </p:cNvPr>
          <p:cNvSpPr/>
          <p:nvPr/>
        </p:nvSpPr>
        <p:spPr>
          <a:xfrm>
            <a:off x="3539497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34,765</a:t>
            </a:r>
            <a:r>
              <a:rPr lang="en-US" sz="1600" dirty="0">
                <a:latin typeface="DM Sans" pitchFamily="2" charset="0"/>
              </a:rPr>
              <a:t> 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Training</a:t>
            </a:r>
          </a:p>
          <a:p>
            <a:pPr algn="ctr"/>
            <a:r>
              <a:rPr lang="en-US" dirty="0">
                <a:latin typeface="DM Sans" pitchFamily="2" charset="0"/>
              </a:rPr>
              <a:t>8,691</a:t>
            </a:r>
            <a:r>
              <a:rPr lang="en-US" sz="1600" dirty="0">
                <a:latin typeface="DM Sans" pitchFamily="2" charset="0"/>
              </a:rPr>
              <a:t> Validation</a:t>
            </a:r>
          </a:p>
          <a:p>
            <a:pPr algn="ctr"/>
            <a:r>
              <a:rPr lang="en-US" dirty="0">
                <a:latin typeface="DM Sans" pitchFamily="2" charset="0"/>
              </a:rPr>
              <a:t>10,845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67716-D3A8-8682-A51E-308FDEC8CF17}"/>
              </a:ext>
            </a:extLst>
          </p:cNvPr>
          <p:cNvSpPr txBox="1"/>
          <p:nvPr/>
        </p:nvSpPr>
        <p:spPr>
          <a:xfrm>
            <a:off x="5984447" y="3360913"/>
            <a:ext cx="186099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600" dirty="0">
                <a:solidFill>
                  <a:srgbClr val="485A4E"/>
                </a:solidFill>
                <a:latin typeface="DM Sans" pitchFamily="2" charset="0"/>
              </a:rPr>
              <a:t>0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Corrupted</a:t>
            </a:r>
          </a:p>
          <a:p>
            <a:pPr algn="ctr"/>
            <a:r>
              <a:rPr lang="en-US" dirty="0">
                <a:solidFill>
                  <a:srgbClr val="485A4E"/>
                </a:solidFill>
                <a:latin typeface="DM Sans" pitchFamily="2" charset="0"/>
              </a:rPr>
              <a:t>4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Duplicates Removed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B91C3F-0FCA-0F27-98C6-330E2282162A}"/>
              </a:ext>
            </a:extLst>
          </p:cNvPr>
          <p:cNvSpPr txBox="1"/>
          <p:nvPr/>
        </p:nvSpPr>
        <p:spPr>
          <a:xfrm>
            <a:off x="2781304" y="789322"/>
            <a:ext cx="46531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Dataset Source: Public online datasets + Al-Thara Company (</a:t>
            </a:r>
            <a:r>
              <a:rPr lang="ar-SA" sz="900" dirty="0"/>
              <a:t>(الثرى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8E046-E18C-319A-4BB3-6B7FB9160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444960"/>
            <a:ext cx="789453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Duplicate Check &amp; Data Leakage Prevention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E9395-D614-7C85-E543-AB7343A8135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90378" y="1457065"/>
            <a:ext cx="7717320" cy="1950997"/>
          </a:xfrm>
        </p:spPr>
        <p:txBody>
          <a:bodyPr/>
          <a:lstStyle/>
          <a:p>
            <a:r>
              <a:rPr lang="en-US" sz="1700" dirty="0">
                <a:latin typeface="DM Sans" pitchFamily="2" charset="0"/>
              </a:rPr>
              <a:t>Duplicate Check &amp; Data Leakage Prevention</a:t>
            </a:r>
          </a:p>
          <a:p>
            <a:endParaRPr lang="en-US" sz="1700" dirty="0">
              <a:latin typeface="DM Sans" pitchFamily="2" charset="0"/>
            </a:endParaRPr>
          </a:p>
          <a:p>
            <a:r>
              <a:rPr lang="en-US" sz="1700" dirty="0">
                <a:latin typeface="DM Sans" pitchFamily="2" charset="0"/>
              </a:rPr>
              <a:t>Duplicate test images were checked against training images</a:t>
            </a:r>
          </a:p>
          <a:p>
            <a:r>
              <a:rPr lang="en-US" sz="1700" dirty="0">
                <a:latin typeface="DM Sans" pitchFamily="2" charset="0"/>
              </a:rPr>
              <a:t>using SHA-256 hashing.</a:t>
            </a:r>
          </a:p>
          <a:p>
            <a:endParaRPr lang="en-US" sz="1700" dirty="0">
              <a:latin typeface="DM Sans" pitchFamily="2" charset="0"/>
            </a:endParaRPr>
          </a:p>
          <a:p>
            <a:r>
              <a:rPr lang="en-US" sz="1700" dirty="0">
                <a:latin typeface="DM Sans" pitchFamily="2" charset="0"/>
              </a:rPr>
              <a:t>Four duplicate test images were removed</a:t>
            </a:r>
          </a:p>
          <a:p>
            <a:r>
              <a:rPr lang="en-US" sz="1700" dirty="0">
                <a:latin typeface="DM Sans" pitchFamily="2" charset="0"/>
              </a:rPr>
              <a:t>to reduce the risk of data leakage</a:t>
            </a:r>
          </a:p>
          <a:p>
            <a:r>
              <a:rPr lang="en-US" sz="1700" dirty="0">
                <a:latin typeface="DM Sans" pitchFamily="2" charset="0"/>
              </a:rPr>
              <a:t>and make the evaluation more reliable.</a:t>
            </a:r>
          </a:p>
        </p:txBody>
      </p:sp>
    </p:spTree>
    <p:extLst>
      <p:ext uri="{BB962C8B-B14F-4D97-AF65-F5344CB8AC3E}">
        <p14:creationId xmlns:p14="http://schemas.microsoft.com/office/powerpoint/2010/main" val="2924870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/>
          <p:cNvSpPr/>
          <p:nvPr/>
        </p:nvSpPr>
        <p:spPr>
          <a:xfrm>
            <a:off x="1396089" y="32573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FFFFFF"/>
                </a:solidFill>
                <a:latin typeface="DM Sans" pitchFamily="2" charset="0"/>
              </a:rPr>
              <a:t>EfficientNetB0 Model Architecture</a:t>
            </a:r>
            <a:endParaRPr lang="en-US" sz="3000" b="1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CE354-81E0-0230-512B-CD3FB6961A71}"/>
              </a:ext>
            </a:extLst>
          </p:cNvPr>
          <p:cNvSpPr/>
          <p:nvPr/>
        </p:nvSpPr>
        <p:spPr>
          <a:xfrm>
            <a:off x="3577614" y="628325"/>
            <a:ext cx="1658917" cy="3564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DM Sans" pitchFamily="2" charset="0"/>
              </a:rPr>
              <a:t>Data Augmentation</a:t>
            </a:r>
            <a:endParaRPr lang="en-US" sz="9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4958DE-6B2A-94C8-6BA5-9191A416CBB2}"/>
              </a:ext>
            </a:extLst>
          </p:cNvPr>
          <p:cNvSpPr/>
          <p:nvPr/>
        </p:nvSpPr>
        <p:spPr>
          <a:xfrm>
            <a:off x="3575197" y="3744654"/>
            <a:ext cx="1679427" cy="3975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902A25C-E23F-8EEF-EF2B-FECBBB0C79AE}"/>
              </a:ext>
            </a:extLst>
          </p:cNvPr>
          <p:cNvSpPr/>
          <p:nvPr/>
        </p:nvSpPr>
        <p:spPr>
          <a:xfrm>
            <a:off x="3585558" y="4414352"/>
            <a:ext cx="1696333" cy="387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D9E77-3A4E-EE52-7CAD-77A8498B64B8}"/>
              </a:ext>
            </a:extLst>
          </p:cNvPr>
          <p:cNvSpPr/>
          <p:nvPr/>
        </p:nvSpPr>
        <p:spPr>
          <a:xfrm>
            <a:off x="3585454" y="1198466"/>
            <a:ext cx="1658918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629397-3549-F119-DDBC-081B1F99F519}"/>
              </a:ext>
            </a:extLst>
          </p:cNvPr>
          <p:cNvSpPr/>
          <p:nvPr/>
        </p:nvSpPr>
        <p:spPr>
          <a:xfrm>
            <a:off x="3577614" y="1830857"/>
            <a:ext cx="1658919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AB1785-48D4-D177-E1BF-5AFB0447A070}"/>
              </a:ext>
            </a:extLst>
          </p:cNvPr>
          <p:cNvSpPr/>
          <p:nvPr/>
        </p:nvSpPr>
        <p:spPr>
          <a:xfrm>
            <a:off x="3585454" y="2453234"/>
            <a:ext cx="1654168" cy="4304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BDB838-2225-5B57-7978-D1006B823D05}"/>
              </a:ext>
            </a:extLst>
          </p:cNvPr>
          <p:cNvSpPr/>
          <p:nvPr/>
        </p:nvSpPr>
        <p:spPr>
          <a:xfrm>
            <a:off x="3585454" y="3106737"/>
            <a:ext cx="1676549" cy="4148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713B08-8D14-6ACD-BA84-80913C40F787}"/>
              </a:ext>
            </a:extLst>
          </p:cNvPr>
          <p:cNvSpPr txBox="1"/>
          <p:nvPr/>
        </p:nvSpPr>
        <p:spPr>
          <a:xfrm rot="5400000">
            <a:off x="4262977" y="2816651"/>
            <a:ext cx="3414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81535E-A2F6-A124-2E72-CF5EF89AC747}"/>
              </a:ext>
            </a:extLst>
          </p:cNvPr>
          <p:cNvSpPr txBox="1"/>
          <p:nvPr/>
        </p:nvSpPr>
        <p:spPr>
          <a:xfrm rot="5400000">
            <a:off x="4164963" y="1007708"/>
            <a:ext cx="54004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F9853-06BC-3D83-314E-409A54DACFDD}"/>
              </a:ext>
            </a:extLst>
          </p:cNvPr>
          <p:cNvSpPr txBox="1"/>
          <p:nvPr/>
        </p:nvSpPr>
        <p:spPr>
          <a:xfrm rot="5400000">
            <a:off x="4291785" y="4068910"/>
            <a:ext cx="3343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3DF150-9FAF-FFCB-3A16-17AC67E82996}"/>
              </a:ext>
            </a:extLst>
          </p:cNvPr>
          <p:cNvSpPr txBox="1"/>
          <p:nvPr/>
        </p:nvSpPr>
        <p:spPr>
          <a:xfrm rot="5400000">
            <a:off x="4217602" y="1568591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F2617-4B99-5BF1-E7EB-A0666E918D0E}"/>
              </a:ext>
            </a:extLst>
          </p:cNvPr>
          <p:cNvSpPr txBox="1"/>
          <p:nvPr/>
        </p:nvSpPr>
        <p:spPr>
          <a:xfrm rot="5400000">
            <a:off x="4180491" y="3541842"/>
            <a:ext cx="5263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7DA309-2535-C8F9-E516-AEC50E7F4948}"/>
              </a:ext>
            </a:extLst>
          </p:cNvPr>
          <p:cNvSpPr txBox="1"/>
          <p:nvPr/>
        </p:nvSpPr>
        <p:spPr>
          <a:xfrm>
            <a:off x="3557839" y="1246357"/>
            <a:ext cx="1827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EfficientNetB0 Feature Extractor</a:t>
            </a:r>
            <a:endParaRPr 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600ED-A222-E019-4C4E-EAC4E0EF1604}"/>
              </a:ext>
            </a:extLst>
          </p:cNvPr>
          <p:cNvSpPr txBox="1"/>
          <p:nvPr/>
        </p:nvSpPr>
        <p:spPr>
          <a:xfrm>
            <a:off x="3577614" y="1885992"/>
            <a:ext cx="28269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Global Average Pooling</a:t>
            </a: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ED7E52-606B-D54D-C3CC-D4992D71A46C}"/>
              </a:ext>
            </a:extLst>
          </p:cNvPr>
          <p:cNvSpPr txBox="1"/>
          <p:nvPr/>
        </p:nvSpPr>
        <p:spPr>
          <a:xfrm>
            <a:off x="3631902" y="2547754"/>
            <a:ext cx="1654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Batch Normalization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2CC3A0-6EB2-F0EB-828A-1C48268383C5}"/>
              </a:ext>
            </a:extLst>
          </p:cNvPr>
          <p:cNvSpPr txBox="1"/>
          <p:nvPr/>
        </p:nvSpPr>
        <p:spPr>
          <a:xfrm>
            <a:off x="4012275" y="3158457"/>
            <a:ext cx="1957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Dropout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23BE0D-F66E-3A65-C288-CA316AD15A01}"/>
              </a:ext>
            </a:extLst>
          </p:cNvPr>
          <p:cNvSpPr txBox="1"/>
          <p:nvPr/>
        </p:nvSpPr>
        <p:spPr>
          <a:xfrm>
            <a:off x="3643973" y="3811289"/>
            <a:ext cx="15795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Dense Layers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78D46C-A170-B920-7629-077EB970CA9D}"/>
              </a:ext>
            </a:extLst>
          </p:cNvPr>
          <p:cNvSpPr txBox="1"/>
          <p:nvPr/>
        </p:nvSpPr>
        <p:spPr>
          <a:xfrm>
            <a:off x="3151183" y="4414532"/>
            <a:ext cx="2640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Softmax Output</a:t>
            </a:r>
          </a:p>
          <a:p>
            <a:pPr algn="ctr"/>
            <a:r>
              <a:rPr lang="en-US" sz="1100" dirty="0">
                <a:latin typeface="DM Sans" pitchFamily="2" charset="0"/>
              </a:rPr>
              <a:t>38 Classes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1D04F-1054-33ED-D7E3-7352DB3513FE}"/>
              </a:ext>
            </a:extLst>
          </p:cNvPr>
          <p:cNvSpPr txBox="1"/>
          <p:nvPr/>
        </p:nvSpPr>
        <p:spPr>
          <a:xfrm rot="5400000">
            <a:off x="4236418" y="2184833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AB6983-BE14-2048-9980-EF9CFC4FCB4C}"/>
              </a:ext>
            </a:extLst>
          </p:cNvPr>
          <p:cNvSpPr txBox="1"/>
          <p:nvPr/>
        </p:nvSpPr>
        <p:spPr>
          <a:xfrm>
            <a:off x="400843" y="4917506"/>
            <a:ext cx="7257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model extracts visual features from plant leaf images and classifies them into 38 healthy or diseased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8AF83-359F-0233-42A4-EAA205C3B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8838" y="291616"/>
            <a:ext cx="770364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Model Evaluation Results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45FBBB-2009-F8D3-5A66-C59C554F4ACE}"/>
              </a:ext>
            </a:extLst>
          </p:cNvPr>
          <p:cNvSpPr/>
          <p:nvPr/>
        </p:nvSpPr>
        <p:spPr>
          <a:xfrm>
            <a:off x="589771" y="148512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BE562-9D53-7D90-61FE-DE7864AD02D4}"/>
              </a:ext>
            </a:extLst>
          </p:cNvPr>
          <p:cNvSpPr txBox="1"/>
          <p:nvPr/>
        </p:nvSpPr>
        <p:spPr>
          <a:xfrm>
            <a:off x="1080608" y="1499055"/>
            <a:ext cx="236837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Accuracy</a:t>
            </a:r>
          </a:p>
          <a:p>
            <a:pPr algn="ctr"/>
            <a:r>
              <a:rPr lang="en-US" sz="1600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95.81%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AB6351-E250-26A5-F40F-EBE9FA1BC0DA}"/>
              </a:ext>
            </a:extLst>
          </p:cNvPr>
          <p:cNvSpPr/>
          <p:nvPr/>
        </p:nvSpPr>
        <p:spPr>
          <a:xfrm>
            <a:off x="595452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71C49C-4F4E-30E1-6B93-E1E20E7DECAB}"/>
              </a:ext>
            </a:extLst>
          </p:cNvPr>
          <p:cNvSpPr/>
          <p:nvPr/>
        </p:nvSpPr>
        <p:spPr>
          <a:xfrm>
            <a:off x="2736493" y="339166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DM Sans" pitchFamily="2" charset="0"/>
              </a:rPr>
              <a:t>Disease Classes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38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7E17F7-E8BC-8AB8-87D2-E2A585FAB124}"/>
              </a:ext>
            </a:extLst>
          </p:cNvPr>
          <p:cNvSpPr/>
          <p:nvPr/>
        </p:nvSpPr>
        <p:spPr>
          <a:xfrm>
            <a:off x="4962678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C287BF-7C40-1F1D-9F4B-791747F7088C}"/>
              </a:ext>
            </a:extLst>
          </p:cNvPr>
          <p:cNvSpPr/>
          <p:nvPr/>
        </p:nvSpPr>
        <p:spPr>
          <a:xfrm>
            <a:off x="4948829" y="1499055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292EFD-AE59-F022-0465-88F119F04B21}"/>
              </a:ext>
            </a:extLst>
          </p:cNvPr>
          <p:cNvSpPr txBox="1"/>
          <p:nvPr/>
        </p:nvSpPr>
        <p:spPr>
          <a:xfrm>
            <a:off x="4923432" y="1467352"/>
            <a:ext cx="333184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Macro F1-score</a:t>
            </a:r>
          </a:p>
          <a:p>
            <a:pPr algn="ctr"/>
            <a:r>
              <a:rPr lang="en-US" b="1" dirty="0">
                <a:latin typeface="DM Sans" pitchFamily="2" charset="0"/>
              </a:rPr>
              <a:t>94.42%</a:t>
            </a:r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F71D0-3450-6ACA-574E-2210691BC33F}"/>
              </a:ext>
            </a:extLst>
          </p:cNvPr>
          <p:cNvSpPr txBox="1"/>
          <p:nvPr/>
        </p:nvSpPr>
        <p:spPr>
          <a:xfrm>
            <a:off x="551315" y="2431802"/>
            <a:ext cx="342696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Balanced Accuracy</a:t>
            </a:r>
          </a:p>
          <a:p>
            <a:pPr algn="ctr"/>
            <a:r>
              <a:rPr lang="en-US" b="1" dirty="0">
                <a:latin typeface="DM Sans" pitchFamily="2" charset="0"/>
              </a:rPr>
              <a:t>93.96%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27072C-D8F7-BA32-B247-79C47E195C70}"/>
              </a:ext>
            </a:extLst>
          </p:cNvPr>
          <p:cNvSpPr txBox="1"/>
          <p:nvPr/>
        </p:nvSpPr>
        <p:spPr>
          <a:xfrm>
            <a:off x="5030868" y="2445236"/>
            <a:ext cx="31169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Weighted F1-score</a:t>
            </a:r>
          </a:p>
          <a:p>
            <a:pPr algn="ctr"/>
            <a:r>
              <a:rPr lang="en-US" sz="1600" b="1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95.70%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96F8D-6C4F-6544-387E-63838EFD230E}"/>
              </a:ext>
            </a:extLst>
          </p:cNvPr>
          <p:cNvSpPr txBox="1"/>
          <p:nvPr/>
        </p:nvSpPr>
        <p:spPr>
          <a:xfrm>
            <a:off x="462401" y="4697852"/>
            <a:ext cx="81161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DM Sans" pitchFamily="2" charset="0"/>
              </a:rPr>
              <a:t>Multiple metrics were used to evaluate performance because the dataset contains class imbalance.</a:t>
            </a:r>
          </a:p>
        </p:txBody>
      </p:sp>
    </p:spTree>
    <p:extLst>
      <p:ext uri="{BB962C8B-B14F-4D97-AF65-F5344CB8AC3E}">
        <p14:creationId xmlns:p14="http://schemas.microsoft.com/office/powerpoint/2010/main" val="793677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Evaluation Summary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4309773" y="1779252"/>
            <a:ext cx="4428428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1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The model achieved strong overall performance across multiple evaluation metrics.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Key Results: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Accuracy: 95.81%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Macro F1-score: 94.42%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Balanced Accuracy: 93.96%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Weighted F1-score: 95.70%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100" dirty="0">
                <a:latin typeface="DM Sans" pitchFamily="2" charset="0"/>
              </a:rPr>
              <a:t>These results were exported and visualized using Power BI for clearer analysis.</a:t>
            </a:r>
            <a:endParaRPr lang="en-US" sz="1100" b="0" u="none" strike="noStrike" dirty="0">
              <a:effectLst/>
              <a:uFillTx/>
              <a:latin typeface="DM Sans" pitchFamily="2" charset="0"/>
            </a:endParaRPr>
          </a:p>
        </p:txBody>
      </p:sp>
      <p:pic>
        <p:nvPicPr>
          <p:cNvPr id="61" name="Google Shape;240;p34"/>
          <p:cNvPicPr/>
          <p:nvPr/>
        </p:nvPicPr>
        <p:blipFill>
          <a:blip r:embed="rId2"/>
          <a:stretch/>
        </p:blipFill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05AEE-531B-783B-795F-9800E0D6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439" y="171685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Power BI Dashboard Overview</a:t>
            </a:r>
            <a:endParaRPr lang="en-US" sz="3000" b="1" dirty="0">
              <a:latin typeface="DM Serif Display" pitchFamily="2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8369AC-D1AA-14F3-0665-614E314A9D4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430" y="4831263"/>
            <a:ext cx="7717320" cy="624473"/>
          </a:xfrm>
        </p:spPr>
        <p:txBody>
          <a:bodyPr/>
          <a:lstStyle/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Power BI transforms model outputs into clear visual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0E30B-37D3-A4AA-4813-E7852FE41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32" y="744085"/>
            <a:ext cx="5995116" cy="4087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CD8361-28D8-C3EA-9A0C-9745AF99E6F5}"/>
              </a:ext>
            </a:extLst>
          </p:cNvPr>
          <p:cNvSpPr txBox="1"/>
          <p:nvPr/>
        </p:nvSpPr>
        <p:spPr>
          <a:xfrm>
            <a:off x="480135" y="1609861"/>
            <a:ext cx="2624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DM Sans" pitchFamily="2" charset="0"/>
              </a:rPr>
              <a:t>Dashboard includes:</a:t>
            </a:r>
          </a:p>
          <a:p>
            <a:endParaRPr lang="en-US" dirty="0">
              <a:latin typeface="DM Sans" pitchFamily="2" charset="0"/>
            </a:endParaRPr>
          </a:p>
          <a:p>
            <a:r>
              <a:rPr lang="en-US" dirty="0">
                <a:latin typeface="DM Sans" pitchFamily="2" charset="0"/>
              </a:rPr>
              <a:t>- Performance metrics</a:t>
            </a:r>
          </a:p>
          <a:p>
            <a:r>
              <a:rPr lang="en-US" dirty="0">
                <a:latin typeface="DM Sans" pitchFamily="2" charset="0"/>
              </a:rPr>
              <a:t>- Dataset distribution</a:t>
            </a:r>
          </a:p>
          <a:p>
            <a:r>
              <a:rPr lang="en-US" dirty="0">
                <a:latin typeface="DM Sans" pitchFamily="2" charset="0"/>
              </a:rPr>
              <a:t>- Class-level F1-score</a:t>
            </a:r>
          </a:p>
          <a:p>
            <a:r>
              <a:rPr lang="en-US" dirty="0">
                <a:latin typeface="DM Sans" pitchFamily="2" charset="0"/>
              </a:rPr>
              <a:t>- Model insights</a:t>
            </a:r>
          </a:p>
        </p:txBody>
      </p:sp>
    </p:spTree>
    <p:extLst>
      <p:ext uri="{BB962C8B-B14F-4D97-AF65-F5344CB8AC3E}">
        <p14:creationId xmlns:p14="http://schemas.microsoft.com/office/powerpoint/2010/main" val="3043333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F8F51-B9E1-659D-F644-020479A49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16" y="77889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Class Performance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97C6-FE38-0019-0066-467A05D36E1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022434" y="550880"/>
            <a:ext cx="7717320" cy="572400"/>
          </a:xfrm>
        </p:spPr>
        <p:txBody>
          <a:bodyPr/>
          <a:lstStyle/>
          <a:p>
            <a:pPr marL="0" indent="0">
              <a:buNone/>
            </a:pPr>
            <a:r>
              <a:rPr lang="en-US" sz="1200" dirty="0">
                <a:latin typeface="DM Sans" pitchFamily="2" charset="0"/>
              </a:rPr>
              <a:t>Class-level analysis identifies strong and weak disease classes using F1-score, precision, and recall.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368B1-CD76-4C77-C960-46F8BC817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870"/>
            <a:ext cx="9144000" cy="432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67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FA9A3-05F1-7081-F3E1-8E15FDB0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163" y="282062"/>
            <a:ext cx="5378547" cy="129276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Confusion Matrix Heatmap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8DAD4-E369-F82D-186D-44CC9CF74B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442505" y="2257081"/>
            <a:ext cx="2083879" cy="478080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Shows actual vs predicted classes.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Highlights misclassification between similar diseases.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A3D4D-30DF-D3C3-63D1-76F963ABF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4248"/>
            <a:ext cx="7353837" cy="4319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17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B0F9-C5EB-7C9D-FF5A-E8C10760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865" y="193277"/>
            <a:ext cx="779674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Web App: Plant Disease Detection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5D18A-8305-C3F1-8EAA-2E205C5A611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67106" y="1237925"/>
            <a:ext cx="3695541" cy="340541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A web app was developed to test plant disease prediction.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Main features: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Upload plant leaf image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Use phone camera images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Predict the disease class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Simple interface for model testing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Web App Link: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DM Sans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Plant Disease Detection Web App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DM Sans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783BBC-C009-13C2-ACF1-D8FF83DBC7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53" y="1527228"/>
            <a:ext cx="4904508" cy="333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76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E8A186-2879-C159-EECA-44961798E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937" y="684882"/>
            <a:ext cx="4732984" cy="68902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Challenges &amp; Future 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D9304-3950-6DDD-414F-75B3BB98879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407" y="1285795"/>
            <a:ext cx="4407343" cy="422427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Challenges:</a:t>
            </a:r>
          </a:p>
          <a:p>
            <a:r>
              <a:rPr lang="en-US" sz="1300" dirty="0">
                <a:latin typeface="DM Sans" pitchFamily="2" charset="0"/>
              </a:rPr>
              <a:t>- Class imbalance</a:t>
            </a:r>
          </a:p>
          <a:p>
            <a:r>
              <a:rPr lang="en-US" sz="1300" dirty="0">
                <a:latin typeface="DM Sans" pitchFamily="2" charset="0"/>
              </a:rPr>
              <a:t>- Similar disease symptoms</a:t>
            </a:r>
          </a:p>
          <a:p>
            <a:r>
              <a:rPr lang="en-US" sz="1300" dirty="0">
                <a:latin typeface="DM Sans" pitchFamily="2" charset="0"/>
              </a:rPr>
              <a:t>- Large dataset size</a:t>
            </a:r>
          </a:p>
          <a:p>
            <a:r>
              <a:rPr lang="en-US" sz="1300" dirty="0">
                <a:latin typeface="DM Sans" pitchFamily="2" charset="0"/>
              </a:rPr>
              <a:t>- Google </a:t>
            </a:r>
            <a:r>
              <a:rPr lang="en-US" sz="1300" dirty="0" err="1">
                <a:latin typeface="DM Sans" pitchFamily="2" charset="0"/>
              </a:rPr>
              <a:t>Colab</a:t>
            </a:r>
            <a:r>
              <a:rPr lang="en-US" sz="1300" dirty="0">
                <a:latin typeface="DM Sans" pitchFamily="2" charset="0"/>
              </a:rPr>
              <a:t> runtime limits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Implemented Extension:</a:t>
            </a:r>
          </a:p>
          <a:p>
            <a:r>
              <a:rPr lang="en-US" sz="1300" dirty="0">
                <a:latin typeface="DM Sans" pitchFamily="2" charset="0"/>
              </a:rPr>
              <a:t>- Web app for plant disease prediction</a:t>
            </a:r>
          </a:p>
          <a:p>
            <a:r>
              <a:rPr lang="en-US" sz="1300" dirty="0">
                <a:latin typeface="DM Sans" pitchFamily="2" charset="0"/>
              </a:rPr>
              <a:t>- Image upload and phone camera testing</a:t>
            </a:r>
          </a:p>
          <a:p>
            <a:r>
              <a:rPr lang="en-US" sz="1300" dirty="0">
                <a:latin typeface="DM Sans" pitchFamily="2" charset="0"/>
              </a:rPr>
              <a:t>- Predicted disease class output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Future Work:</a:t>
            </a:r>
          </a:p>
          <a:p>
            <a:r>
              <a:rPr lang="en-US" sz="1300" dirty="0">
                <a:latin typeface="DM Sans" pitchFamily="2" charset="0"/>
              </a:rPr>
              <a:t>- Convert the system into a full mobile application</a:t>
            </a:r>
          </a:p>
          <a:p>
            <a:r>
              <a:rPr lang="en-US" sz="1300" dirty="0">
                <a:latin typeface="DM Sans" pitchFamily="2" charset="0"/>
              </a:rPr>
              <a:t>- Increase dataset diversity</a:t>
            </a:r>
          </a:p>
          <a:p>
            <a:r>
              <a:rPr lang="en-US" sz="1300" dirty="0">
                <a:latin typeface="DM Sans" pitchFamily="2" charset="0"/>
              </a:rPr>
              <a:t>- Add treatment recommendations</a:t>
            </a:r>
          </a:p>
          <a:p>
            <a:r>
              <a:rPr lang="en-US" sz="1300" dirty="0">
                <a:latin typeface="DM Sans" pitchFamily="2" charset="0"/>
              </a:rPr>
              <a:t>- Improve model performance on real-world images</a:t>
            </a:r>
          </a:p>
        </p:txBody>
      </p:sp>
    </p:spTree>
    <p:extLst>
      <p:ext uri="{BB962C8B-B14F-4D97-AF65-F5344CB8AC3E}">
        <p14:creationId xmlns:p14="http://schemas.microsoft.com/office/powerpoint/2010/main" val="67593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Conclusions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700" dirty="0">
                <a:latin typeface="DM Sans" pitchFamily="2" charset="0"/>
              </a:rPr>
              <a:t>The project combines deep learning image classification with Business Intelligence reporting</a:t>
            </a:r>
            <a:r>
              <a:rPr lang="en-US" sz="1400" dirty="0">
                <a:latin typeface="DM Sans" pitchFamily="2" charset="0"/>
              </a:rPr>
              <a:t>.</a:t>
            </a:r>
            <a:br>
              <a:rPr lang="en-US" sz="1400" dirty="0">
                <a:latin typeface="DM Sans" pitchFamily="2" charset="0"/>
              </a:rPr>
            </a:br>
            <a:br>
              <a:rPr lang="en-US" sz="1400" dirty="0">
                <a:latin typeface="DM Sans" pitchFamily="2" charset="0"/>
              </a:rPr>
            </a:br>
            <a:r>
              <a:rPr lang="en-US" sz="1500" b="1" dirty="0">
                <a:latin typeface="DM Sans" pitchFamily="2" charset="0"/>
              </a:rPr>
              <a:t>Key outcomes: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</a:t>
            </a:r>
            <a:r>
              <a:rPr lang="en-US" sz="1400" dirty="0" err="1">
                <a:latin typeface="DM Sans" pitchFamily="2" charset="0"/>
              </a:rPr>
              <a:t>EfficientNetB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achieved strong classification performance.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Power BI visualized model metrics and class-level results.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A web app was developed for plant disease prediction testing.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The system supports clearer plant disease analysis and decision-making.</a:t>
            </a:r>
            <a:br>
              <a:rPr lang="en-US" sz="14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Project files are available in the GitHub repository.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EBDF-39BC-4A06-342F-B9560BB90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519" y="174217"/>
            <a:ext cx="428472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GitHub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6130E-CFF3-D42D-175F-668B16C41E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99927" y="480565"/>
            <a:ext cx="5069328" cy="2949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</a:t>
            </a:r>
            <a:r>
              <a:rPr lang="en-US" sz="2000" b="1" dirty="0">
                <a:latin typeface="DM Sans" pitchFamily="2" charset="0"/>
              </a:rPr>
              <a:t>Project Repository</a:t>
            </a:r>
          </a:p>
          <a:p>
            <a:pPr marL="0" indent="0">
              <a:buNone/>
            </a:pPr>
            <a:endParaRPr lang="en-US" sz="14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600" dirty="0">
                <a:latin typeface="DM Sans" pitchFamily="2" charset="0"/>
              </a:rPr>
              <a:t>The GitHub repository includes:</a:t>
            </a:r>
          </a:p>
          <a:p>
            <a:pPr marL="342900" indent="-342900">
              <a:buFont typeface="+mj-lt"/>
              <a:buAutoNum type="arabicPeriod"/>
            </a:pPr>
            <a:endParaRPr lang="ar-SA" sz="1400" dirty="0">
              <a:latin typeface="DM Sans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ar-SA" sz="1400" dirty="0">
                <a:latin typeface="DM Sans" pitchFamily="2" charset="0"/>
              </a:rPr>
              <a:t>  </a:t>
            </a:r>
            <a:r>
              <a:rPr lang="en-US" sz="1400" dirty="0">
                <a:latin typeface="DM Sans" pitchFamily="2" charset="0"/>
              </a:rPr>
              <a:t>Project documentation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Notebook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Power BI dashboard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Model evaluation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Dashboard screenshots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Dataset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Web app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Presentation and submission links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24D22-D0C5-9A95-8C3C-F06B6DD28C2F}"/>
              </a:ext>
            </a:extLst>
          </p:cNvPr>
          <p:cNvSpPr txBox="1"/>
          <p:nvPr/>
        </p:nvSpPr>
        <p:spPr>
          <a:xfrm>
            <a:off x="129790" y="4684748"/>
            <a:ext cx="6297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</a:rPr>
              <a:t>github.com/nadakhattab33-code/BI-Plant-Disease-Analysis-and-Prediction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55F095-9991-A4D7-5A93-F743C5DE44FE}"/>
              </a:ext>
            </a:extLst>
          </p:cNvPr>
          <p:cNvSpPr txBox="1"/>
          <p:nvPr/>
        </p:nvSpPr>
        <p:spPr>
          <a:xfrm>
            <a:off x="1261567" y="4379707"/>
            <a:ext cx="32409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DM Sans" pitchFamily="2" charset="0"/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8FDFA-C5B9-7A29-2C96-E33B187968BD}"/>
              </a:ext>
            </a:extLst>
          </p:cNvPr>
          <p:cNvSpPr txBox="1"/>
          <p:nvPr/>
        </p:nvSpPr>
        <p:spPr>
          <a:xfrm>
            <a:off x="1261567" y="3598197"/>
            <a:ext cx="2017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DM Sans" pitchFamily="2" charset="0"/>
              </a:rPr>
              <a:t>Web App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28BEF0-92DE-2982-A2B7-97A052ACB3B8}"/>
              </a:ext>
            </a:extLst>
          </p:cNvPr>
          <p:cNvSpPr txBox="1"/>
          <p:nvPr/>
        </p:nvSpPr>
        <p:spPr>
          <a:xfrm>
            <a:off x="826714" y="3858147"/>
            <a:ext cx="30258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https://plants-beta-ten.vercel.app/</a:t>
            </a:r>
            <a:endParaRPr lang="en-US" sz="1100" b="1" dirty="0">
              <a:solidFill>
                <a:schemeClr val="accent6">
                  <a:lumMod val="75000"/>
                </a:schemeClr>
              </a:solidFill>
              <a:latin typeface="DM Serif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62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1EAC4-8D49-3A67-3211-601EAD5A4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699" y="363596"/>
            <a:ext cx="5139371" cy="1157879"/>
          </a:xfrm>
        </p:spPr>
        <p:txBody>
          <a:bodyPr/>
          <a:lstStyle/>
          <a:p>
            <a:r>
              <a:rPr lang="en" sz="5000" dirty="0">
                <a:solidFill>
                  <a:schemeClr val="dk1"/>
                </a:solidFill>
                <a:latin typeface="DM Serif Display"/>
                <a:ea typeface="DM Serif Display"/>
              </a:rPr>
              <a:t>Thanks!</a:t>
            </a:r>
            <a:endParaRPr lang="en-US" sz="5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EEC8C-0F6B-C65E-B96F-8E1166DAE3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927839" y="282029"/>
            <a:ext cx="3528720" cy="460446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Google Shape;433;p50">
            <a:extLst>
              <a:ext uri="{FF2B5EF4-FFF2-40B4-BE49-F238E27FC236}">
                <a16:creationId xmlns:a16="http://schemas.microsoft.com/office/drawing/2014/main" id="{00051299-065A-55FC-0BB9-88FC738E93FC}"/>
              </a:ext>
            </a:extLst>
          </p:cNvPr>
          <p:cNvPicPr/>
          <p:nvPr/>
        </p:nvPicPr>
        <p:blipFill>
          <a:blip r:embed="rId2"/>
          <a:srcRect t="3413" b="6285"/>
          <a:stretch/>
        </p:blipFill>
        <p:spPr>
          <a:xfrm flipH="1">
            <a:off x="4901409" y="211015"/>
            <a:ext cx="3598723" cy="477219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960399-E654-75C3-FDFE-18871C331125}"/>
              </a:ext>
            </a:extLst>
          </p:cNvPr>
          <p:cNvSpPr txBox="1"/>
          <p:nvPr/>
        </p:nvSpPr>
        <p:spPr>
          <a:xfrm>
            <a:off x="534770" y="1937930"/>
            <a:ext cx="4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dirty="0">
                <a:latin typeface="DM Sans" pitchFamily="2" charset="0"/>
              </a:rPr>
              <a:t>Questions?</a:t>
            </a:r>
            <a:br>
              <a:rPr lang="en-US" dirty="0">
                <a:latin typeface="DM Sans" pitchFamily="2" charset="0"/>
              </a:rPr>
            </a:br>
            <a:r>
              <a:rPr lang="en-US" dirty="0">
                <a:latin typeface="DM Sans" pitchFamily="2" charset="0"/>
              </a:rPr>
              <a:t>Prepared by: Nada Ahmed Khattab</a:t>
            </a:r>
          </a:p>
        </p:txBody>
      </p:sp>
    </p:spTree>
    <p:extLst>
      <p:ext uri="{BB962C8B-B14F-4D97-AF65-F5344CB8AC3E}">
        <p14:creationId xmlns:p14="http://schemas.microsoft.com/office/powerpoint/2010/main" val="199207035"/>
      </p:ext>
    </p:extLst>
  </p:cSld>
  <p:clrMapOvr>
    <a:masterClrMapping/>
  </p:clrMapOvr>
</p:sld>
</file>

<file path=ppt/theme/theme1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366</TotalTime>
  <Words>858</Words>
  <Application>Microsoft Office PowerPoint</Application>
  <PresentationFormat>On-screen Show (16:9)</PresentationFormat>
  <Paragraphs>175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DM Sans</vt:lpstr>
      <vt:lpstr>DM Serif Display</vt:lpstr>
      <vt:lpstr>OpenSymbol</vt:lpstr>
      <vt:lpstr>Symbol</vt:lpstr>
      <vt:lpstr>Wingdings</vt:lpstr>
      <vt:lpstr>Sage Green Palette Portfolio by Slidesgo</vt:lpstr>
      <vt:lpstr>Sage Green Palette Portfolio by Slidesgo</vt:lpstr>
      <vt:lpstr>Plant Disease BI System</vt:lpstr>
      <vt:lpstr>Introduction</vt:lpstr>
      <vt:lpstr>Project Overview</vt:lpstr>
      <vt:lpstr>Problem Statement</vt:lpstr>
      <vt:lpstr>Dataset Samples</vt:lpstr>
      <vt:lpstr>PowerPoint Presentation</vt:lpstr>
      <vt:lpstr>PowerPoint Presentation</vt:lpstr>
      <vt:lpstr>PowerPoint Presentation</vt:lpstr>
      <vt:lpstr>Dataset &amp; Quality</vt:lpstr>
      <vt:lpstr>Duplicate Check &amp; Data Leakage Prevention</vt:lpstr>
      <vt:lpstr>PowerPoint Presentation</vt:lpstr>
      <vt:lpstr>Model Evaluation Results</vt:lpstr>
      <vt:lpstr>Evaluation Summary</vt:lpstr>
      <vt:lpstr>Power BI Dashboard Overview</vt:lpstr>
      <vt:lpstr>Class Performance Analysis</vt:lpstr>
      <vt:lpstr>Confusion Matrix Heatmap</vt:lpstr>
      <vt:lpstr>Web App: Plant Disease Detection</vt:lpstr>
      <vt:lpstr>Challenges &amp; Future Work</vt:lpstr>
      <vt:lpstr>Conclusions</vt:lpstr>
      <vt:lpstr>GitHub Repository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Nada Ahmed</dc:creator>
  <cp:lastModifiedBy>ندى احمد حمدان خطاب</cp:lastModifiedBy>
  <cp:revision>8</cp:revision>
  <dcterms:modified xsi:type="dcterms:W3CDTF">2026-06-06T22:29:59Z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2026-05-16T21:10:53Z</dcterms:created>
  <dc:creator>Unknown Creator</dc:creator>
  <dc:description/>
  <dc:language>en-US</dc:language>
  <cp:lastModifiedBy>Unknown Creator</cp:lastModifiedBy>
  <dcterms:modified xsi:type="dcterms:W3CDTF">2026-05-16T21:10:53Z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